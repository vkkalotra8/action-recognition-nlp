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the panel. State the project title clearly and slowly. Introduce yourself, your guide, department, and college. Set expectations: a 10-12 minute walkthrough of a complete vision-language action recognition pipeline, from dataset to deployment. Keep energy calm and confident — this is a technical opening, not a sales pitch.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the motivation: manual review of video is slow and expensive. Human action recognition automates this, and pairing it with language/semantic understanding lets the system reason about actions in a richer way than plain class IDs. Walk through the four application areas briefly, then land on the three project objectives — building the pipeline, fusing modalities, testing rigorously for leakage, and shipping a usable demo.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dataset: UCF101, narrowed to 9 visually and semantically distinct action classes for a focused, well-controlled study. Emphasize the group-safe split — videos are split by group/source, not by frame, so no clip leaks between train and test. Then walk the five-stage pipeline left to right: raw video, frame extraction, the dataset split, feature extraction, and finally classification.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two parallel branches: the visual branch (ResNet18 to visual features) and the language branch (Sentence-BERT to semantic space). Both feed into the leakage-safe Semantic Projection Network, which maps visual features into semantic space without any test-time label access, before producing the final prediction. Emphasize the word "leakage-safe" — this is the deployable design, distinct from the Oracle Fusion experiment discussed later.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the table row by row. Lead with the baseline — 93.40% accuracy is a strong, deployable result on its own. Then address Oracle Fusion directly and without hesitation: 100% accuracy is a red flag, not a win, and it is explicitly caused by label leakage in that experimental setup — call this out proactively so the panel sees you understand the pitfall. Close on the Leakage-Safe Semantic Projection at 87.82% as the honest, deployable fusion result — lower than the leaking oracle, but real.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real Sentence-BERT similarity heatmap from Chapter 5 of the report. Explain that each cell is a cosine similarity between two action-class language embeddings. Point to the highest pairs (Drumming-PlayingGuitar at 0.52, both musical/rhythmic activities described in similar language) and the lowest (JavelinThrow-Typing at 0.15, almost no shared vocabulary). Flag the key forward-looking detail: Archery and JavelinThrow are semantically close (0.49) and this exact pair becomes the semantic projection model's biggest error on the next slide — a sign the model is reasoning correctly, not failing randomly.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left to right through the three real confusion matrices from Chapter 5 of the report. The Video-Only Baseline (Fig. 5.1) shows realistic, mostly-diagonal errors — its biggest confusion is JavelinThrow predicted as Basketball (4 cases). Oracle Fusion (Fig. 5.2) shows a perfect diagonal, all 197 test videos correct — flag this immediately as label leakage, an upper-bound reference, not a real result. The Semantic Projection matrix (Fig. 5.3) shows realistic confusions guided by semantic similarity — most notably Archery confused with JavelinThrow in 7 of 25 cases, mirroring the 0.49 cosine similarity between those two classes seen on the previous slide. Reinforce the takeaway banner at the bottom before moving 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deployed Streamlit workflow: a user uploads a video, frames are extracted automatically, the action is predicted, a confidence score is attached, and an explainability report is generated. The panel on the right reproduces the exact representative example from Section 6.6 of the report: a PlayingGuitar prediction with 0.5142 similarity and Moderate confidence — deliberately lower than the 0.8776 high-confidence Drumming example elsewhere in the report, showing the system communicates uncertainty rather than faking uniform confidence. The runner-up prediction, Drumming, is exactly the pair with the highest cosine similarity (0.52) from the heatmap two slides back — the Top-K output is traceable to real semantic structure, not an opaque ranking. Replace this mock-up with a live screenshot once one is captured.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candid about constraints — CPU-only training, a limited dataset, and the added complexity of the semantic projection step were real challenges. Then pivot forward: name the concrete next steps — CLIP for stronger joint embeddings, Video Swin Transformer and Temporal Transformers for better temporal modeling, and real-time inference with cloud deployment for a production-ready system.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Summarize the three pillars: what was built, what was learned, and what the honest research outcome is. Reiterate the headline number — an 87.82% accuracy leakage-safe fusion model — as the real, deployable contribution, distinct from the misleading 100% oracle figure. Close warmly, thank the panel, and open the floor for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LAI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jp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754880" cy="475488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4663440"/>
            <a:ext cx="4023360" cy="402336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4" name="Shape 2"/>
          <p:cNvSpPr/>
          <p:nvPr/>
        </p:nvSpPr>
        <p:spPr>
          <a:xfrm>
            <a:off x="9166860" y="754380"/>
            <a:ext cx="960120" cy="960120"/>
          </a:xfrm>
          <a:prstGeom prst="ellipse">
            <a:avLst/>
          </a:prstGeom>
          <a:solidFill>
            <a:srgbClr val="00A896"/>
          </a:solidFill>
          <a:ln/>
          <a:effectLst>
            <a:outerShdw sx="100000" sy="100000" kx="0" ky="0" algn="bl" rotWithShape="0" blurRad="76200" dist="25400" dir="5400000">
              <a:srgbClr val="10162B">
                <a:alpha val="25000"/>
              </a:srgbClr>
            </a:outerShdw>
          </a:effectLst>
        </p:spPr>
      </p:sp>
      <p:pic>
        <p:nvPicPr>
          <p:cNvPr id="5" name="Image 0" descr="icons/video_0F1B3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06890" y="994410"/>
            <a:ext cx="480060" cy="4800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0538460" y="1303020"/>
            <a:ext cx="960120" cy="960120"/>
          </a:xfrm>
          <a:prstGeom prst="ellipse">
            <a:avLst/>
          </a:prstGeom>
          <a:solidFill>
            <a:srgbClr val="F2C14E"/>
          </a:solidFill>
          <a:ln/>
          <a:effectLst>
            <a:outerShdw sx="100000" sy="100000" kx="0" ky="0" algn="bl" rotWithShape="0" blurRad="76200" dist="25400" dir="5400000">
              <a:srgbClr val="10162B">
                <a:alpha val="25000"/>
              </a:srgbClr>
            </a:outerShdw>
          </a:effectLst>
        </p:spPr>
      </p:sp>
      <p:pic>
        <p:nvPicPr>
          <p:cNvPr id="7" name="Image 1" descr="icons/language_0F1B3C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8490" y="1543050"/>
            <a:ext cx="480060" cy="48006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10012680" y="1600200"/>
            <a:ext cx="685800" cy="320040"/>
          </a:xfrm>
          <a:prstGeom prst="line">
            <a:avLst/>
          </a:prstGeom>
          <a:noFill/>
          <a:ln w="19050">
            <a:solidFill>
              <a:srgbClr val="A9B6D6"/>
            </a:solidFill>
            <a:prstDash val="dash"/>
            <a:tailEnd type="triangle"/>
          </a:ln>
        </p:spPr>
      </p:sp>
      <p:sp>
        <p:nvSpPr>
          <p:cNvPr id="9" name="Text 5"/>
          <p:cNvSpPr/>
          <p:nvPr/>
        </p:nvSpPr>
        <p:spPr>
          <a:xfrm>
            <a:off x="640080" y="10515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2C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 FINAL YEAR MAJOR PROJECT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640080" y="1554480"/>
            <a:ext cx="87782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Semantic Prompt-Guided Human Action Recognition using Vision-Language Fusion</a:t>
            </a:r>
            <a:endParaRPr lang="en-US" sz="3400" dirty="0"/>
          </a:p>
        </p:txBody>
      </p:sp>
      <p:sp>
        <p:nvSpPr>
          <p:cNvPr id="11" name="Shape 7"/>
          <p:cNvSpPr/>
          <p:nvPr/>
        </p:nvSpPr>
        <p:spPr>
          <a:xfrm>
            <a:off x="640080" y="3977640"/>
            <a:ext cx="4023360" cy="18288"/>
          </a:xfrm>
          <a:prstGeom prst="rect">
            <a:avLst/>
          </a:prstGeom>
          <a:solidFill>
            <a:srgbClr val="3A4A72"/>
          </a:solidFill>
          <a:ln/>
        </p:spPr>
      </p:sp>
      <p:sp>
        <p:nvSpPr>
          <p:cNvPr id="12" name="Text 8"/>
          <p:cNvSpPr/>
          <p:nvPr/>
        </p:nvSpPr>
        <p:spPr>
          <a:xfrm>
            <a:off x="640080" y="425196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FA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2514600" y="4251960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Varunbhai Kalotra   |   Roll No. 24CE048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640080" y="463600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FA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GUIDE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2514600" y="4636008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Mrugendrasinh Rahevar, Assistant Professor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640080" y="5020056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FA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2514600" y="5020056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 &amp; P U. Patel Department of Computer Engineering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640080" y="5404104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FA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COLLEGE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2514600" y="5404104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Chandubhai S. Patel Institute of Technology</a:t>
            </a:r>
            <a:endParaRPr lang="en-US" sz="1300" dirty="0"/>
          </a:p>
        </p:txBody>
      </p:sp>
      <p:sp>
        <p:nvSpPr>
          <p:cNvPr id="20" name="Text 16"/>
          <p:cNvSpPr/>
          <p:nvPr/>
        </p:nvSpPr>
        <p:spPr>
          <a:xfrm>
            <a:off x="640080" y="583387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FA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2026</a:t>
            </a:r>
            <a:endParaRPr lang="en-US" sz="1000" dirty="0"/>
          </a:p>
        </p:txBody>
      </p:sp>
      <p:sp>
        <p:nvSpPr>
          <p:cNvPr id="21" name="Shape 17"/>
          <p:cNvSpPr/>
          <p:nvPr/>
        </p:nvSpPr>
        <p:spPr>
          <a:xfrm>
            <a:off x="9473184" y="3621024"/>
            <a:ext cx="2130552" cy="2130552"/>
          </a:xfrm>
          <a:prstGeom prst="ellipse">
            <a:avLst/>
          </a:prstGeom>
          <a:solidFill>
            <a:srgbClr val="F2C14E"/>
          </a:solidFill>
          <a:ln/>
        </p:spPr>
      </p:sp>
      <p:pic>
        <p:nvPicPr>
          <p:cNvPr id="22" name="Image 2" descr="figures/headshot_circl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55480" y="3703320"/>
            <a:ext cx="1965960" cy="19659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Human Action Recognition matters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5486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Recognizing human actions from video </a:t>
            </a:r>
            <a:pPr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automatically</a:t>
            </a:r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a core computer vision problem — one that becomes far more powerful when paired with </a:t>
            </a:r>
            <a:pPr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language understanding</a:t>
            </a:r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rather than raw class labels alone.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32004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F1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OBJECTIVES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3611880"/>
            <a:ext cx="5486400" cy="2606040"/>
          </a:xfrm>
          <a:prstGeom prst="rect">
            <a:avLst>
              <a:gd name="adj" fmla="val 2807"/>
            </a:avLst>
          </a:prstGeom>
          <a:solidFill>
            <a:srgbClr val="F3F6FB"/>
          </a:solidFill>
          <a:ln/>
        </p:spPr>
      </p:sp>
      <p:sp>
        <p:nvSpPr>
          <p:cNvPr id="7" name="Shape 5"/>
          <p:cNvSpPr/>
          <p:nvPr/>
        </p:nvSpPr>
        <p:spPr>
          <a:xfrm>
            <a:off x="777240" y="3849624"/>
            <a:ext cx="109728" cy="10972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8" name="Text 6"/>
          <p:cNvSpPr/>
          <p:nvPr/>
        </p:nvSpPr>
        <p:spPr>
          <a:xfrm>
            <a:off x="1051560" y="3721608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working video action classification pipeline on real data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77240" y="4471416"/>
            <a:ext cx="109728" cy="10972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0" name="Text 8"/>
          <p:cNvSpPr/>
          <p:nvPr/>
        </p:nvSpPr>
        <p:spPr>
          <a:xfrm>
            <a:off x="1051560" y="4343400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Fuse visual embeddings with semantic (language) embeddings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77240" y="5093208"/>
            <a:ext cx="109728" cy="10972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2" name="Text 10"/>
          <p:cNvSpPr/>
          <p:nvPr/>
        </p:nvSpPr>
        <p:spPr>
          <a:xfrm>
            <a:off x="1051560" y="4965192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Rigorously test for label leakage and report honest, deployable results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" y="5715000"/>
            <a:ext cx="109728" cy="10972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4" name="Text 12"/>
          <p:cNvSpPr/>
          <p:nvPr/>
        </p:nvSpPr>
        <p:spPr>
          <a:xfrm>
            <a:off x="1051560" y="5586984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 an explainable, interactive demo via Streamlit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92240" y="1417320"/>
            <a:ext cx="2514600" cy="2331720"/>
          </a:xfrm>
          <a:prstGeom prst="rect">
            <a:avLst>
              <a:gd name="adj" fmla="val 3922"/>
            </a:avLst>
          </a:prstGeom>
          <a:solidFill>
            <a:srgbClr val="0F1B3C"/>
          </a:solidFill>
          <a:ln/>
          <a:effectLst>
            <a:outerShdw sx="100000" sy="100000" kx="0" ky="0" algn="bl" rotWithShape="0" blurRad="63500" dist="25400" dir="5400000">
              <a:srgbClr val="A9B6D6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383780" y="1673352"/>
            <a:ext cx="731520" cy="731520"/>
          </a:xfrm>
          <a:prstGeom prst="ellipse">
            <a:avLst/>
          </a:prstGeom>
          <a:solidFill>
            <a:srgbClr val="00A896"/>
          </a:solidFill>
          <a:ln/>
          <a:effectLst>
            <a:outerShdw sx="100000" sy="100000" kx="0" ky="0" algn="bl" rotWithShape="0" blurRad="76200" dist="25400" dir="5400000">
              <a:srgbClr val="10162B">
                <a:alpha val="25000"/>
              </a:srgbClr>
            </a:outerShdw>
          </a:effectLst>
        </p:spPr>
      </p:sp>
      <p:pic>
        <p:nvPicPr>
          <p:cNvPr id="17" name="Image 0" descr="icons/shield_0F1B3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66660" y="1856232"/>
            <a:ext cx="365760" cy="365760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6583680" y="2532888"/>
            <a:ext cx="2331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Surveillance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6629400" y="315468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B9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monitoring &amp; anomaly flagging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9189720" y="1417320"/>
            <a:ext cx="2514600" cy="2331720"/>
          </a:xfrm>
          <a:prstGeom prst="rect">
            <a:avLst>
              <a:gd name="adj" fmla="val 3922"/>
            </a:avLst>
          </a:prstGeom>
          <a:solidFill>
            <a:srgbClr val="0F1B3C"/>
          </a:solidFill>
          <a:ln/>
          <a:effectLst>
            <a:outerShdw sx="100000" sy="100000" kx="0" ky="0" algn="bl" rotWithShape="0" blurRad="63500" dist="25400" dir="5400000">
              <a:srgbClr val="A9B6D6">
                <a:alpha val="25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10081260" y="1673352"/>
            <a:ext cx="731520" cy="731520"/>
          </a:xfrm>
          <a:prstGeom prst="ellipse">
            <a:avLst/>
          </a:prstGeom>
          <a:solidFill>
            <a:srgbClr val="F2C14E"/>
          </a:solidFill>
          <a:ln/>
          <a:effectLst>
            <a:outerShdw sx="100000" sy="100000" kx="0" ky="0" algn="bl" rotWithShape="0" blurRad="76200" dist="25400" dir="5400000">
              <a:srgbClr val="10162B">
                <a:alpha val="25000"/>
              </a:srgbClr>
            </a:outerShdw>
          </a:effectLst>
        </p:spPr>
      </p:sp>
      <p:pic>
        <p:nvPicPr>
          <p:cNvPr id="22" name="Image 1" descr="icons/chartline_0F1B3C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64140" y="1856232"/>
            <a:ext cx="365760" cy="365760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9281160" y="2532888"/>
            <a:ext cx="2331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Sports Analytics</a:t>
            </a:r>
            <a:endParaRPr lang="en-US" sz="1300" dirty="0"/>
          </a:p>
        </p:txBody>
      </p:sp>
      <p:sp>
        <p:nvSpPr>
          <p:cNvPr id="24" name="Text 20"/>
          <p:cNvSpPr/>
          <p:nvPr/>
        </p:nvSpPr>
        <p:spPr>
          <a:xfrm>
            <a:off x="9326880" y="315468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B9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 action &amp; performance tracking</a:t>
            </a:r>
            <a:endParaRPr lang="en-US" sz="950" dirty="0"/>
          </a:p>
        </p:txBody>
      </p:sp>
      <p:sp>
        <p:nvSpPr>
          <p:cNvPr id="25" name="Shape 21"/>
          <p:cNvSpPr/>
          <p:nvPr/>
        </p:nvSpPr>
        <p:spPr>
          <a:xfrm>
            <a:off x="6492240" y="3931920"/>
            <a:ext cx="2514600" cy="2331720"/>
          </a:xfrm>
          <a:prstGeom prst="rect">
            <a:avLst>
              <a:gd name="adj" fmla="val 3922"/>
            </a:avLst>
          </a:prstGeom>
          <a:solidFill>
            <a:srgbClr val="0F1B3C"/>
          </a:solidFill>
          <a:ln/>
          <a:effectLst>
            <a:outerShdw sx="100000" sy="100000" kx="0" ky="0" algn="bl" rotWithShape="0" blurRad="63500" dist="25400" dir="5400000">
              <a:srgbClr val="A9B6D6">
                <a:alpha val="25000"/>
              </a:srgbClr>
            </a:outerShdw>
          </a:effectLst>
        </p:spPr>
      </p:sp>
      <p:sp>
        <p:nvSpPr>
          <p:cNvPr id="26" name="Shape 22"/>
          <p:cNvSpPr/>
          <p:nvPr/>
        </p:nvSpPr>
        <p:spPr>
          <a:xfrm>
            <a:off x="7383780" y="4187952"/>
            <a:ext cx="731520" cy="731520"/>
          </a:xfrm>
          <a:prstGeom prst="ellipse">
            <a:avLst/>
          </a:prstGeom>
          <a:solidFill>
            <a:srgbClr val="00A896"/>
          </a:solidFill>
          <a:ln/>
          <a:effectLst>
            <a:outerShdw sx="100000" sy="100000" kx="0" ky="0" algn="bl" rotWithShape="0" blurRad="76200" dist="25400" dir="5400000">
              <a:srgbClr val="10162B">
                <a:alpha val="25000"/>
              </a:srgbClr>
            </a:outerShdw>
          </a:effectLst>
        </p:spPr>
      </p:sp>
      <p:pic>
        <p:nvPicPr>
          <p:cNvPr id="27" name="Image 2" descr="icons/heartbeat_0F1B3C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66660" y="4370832"/>
            <a:ext cx="365760" cy="365760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6583680" y="5047488"/>
            <a:ext cx="2331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</a:t>
            </a:r>
            <a:endParaRPr lang="en-US" sz="1300" dirty="0"/>
          </a:p>
        </p:txBody>
      </p:sp>
      <p:sp>
        <p:nvSpPr>
          <p:cNvPr id="29" name="Text 24"/>
          <p:cNvSpPr/>
          <p:nvPr/>
        </p:nvSpPr>
        <p:spPr>
          <a:xfrm>
            <a:off x="6629400" y="566928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B9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activity &amp; fall monitoring</a:t>
            </a:r>
            <a:endParaRPr lang="en-US" sz="950" dirty="0"/>
          </a:p>
        </p:txBody>
      </p:sp>
      <p:sp>
        <p:nvSpPr>
          <p:cNvPr id="30" name="Shape 25"/>
          <p:cNvSpPr/>
          <p:nvPr/>
        </p:nvSpPr>
        <p:spPr>
          <a:xfrm>
            <a:off x="9189720" y="3931920"/>
            <a:ext cx="2514600" cy="2331720"/>
          </a:xfrm>
          <a:prstGeom prst="rect">
            <a:avLst>
              <a:gd name="adj" fmla="val 3922"/>
            </a:avLst>
          </a:prstGeom>
          <a:solidFill>
            <a:srgbClr val="0F1B3C"/>
          </a:solidFill>
          <a:ln/>
          <a:effectLst>
            <a:outerShdw sx="100000" sy="100000" kx="0" ky="0" algn="bl" rotWithShape="0" blurRad="63500" dist="25400" dir="5400000">
              <a:srgbClr val="A9B6D6">
                <a:alpha val="25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10081260" y="4187952"/>
            <a:ext cx="731520" cy="731520"/>
          </a:xfrm>
          <a:prstGeom prst="ellipse">
            <a:avLst/>
          </a:prstGeom>
          <a:solidFill>
            <a:srgbClr val="F2C14E"/>
          </a:solidFill>
          <a:ln/>
          <a:effectLst>
            <a:outerShdw sx="100000" sy="100000" kx="0" ky="0" algn="bl" rotWithShape="0" blurRad="76200" dist="25400" dir="5400000">
              <a:srgbClr val="10162B">
                <a:alpha val="25000"/>
              </a:srgbClr>
            </a:outerShdw>
          </a:effectLst>
        </p:spPr>
      </p:sp>
      <p:pic>
        <p:nvPicPr>
          <p:cNvPr id="32" name="Image 3" descr="icons/hands_0F1B3C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64140" y="4370832"/>
            <a:ext cx="365760" cy="365760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9281160" y="5047488"/>
            <a:ext cx="2331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Human–Computer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Interaction</a:t>
            </a:r>
            <a:endParaRPr lang="en-US" sz="1300" dirty="0"/>
          </a:p>
        </p:txBody>
      </p:sp>
      <p:sp>
        <p:nvSpPr>
          <p:cNvPr id="34" name="Text 28"/>
          <p:cNvSpPr/>
          <p:nvPr/>
        </p:nvSpPr>
        <p:spPr>
          <a:xfrm>
            <a:off x="9326880" y="566928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B9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Gesture and activity-aware interfaces</a:t>
            </a:r>
            <a:endParaRPr lang="en-US" sz="950" dirty="0"/>
          </a:p>
        </p:txBody>
      </p:sp>
      <p:sp>
        <p:nvSpPr>
          <p:cNvPr id="35" name="Text 29"/>
          <p:cNvSpPr/>
          <p:nvPr/>
        </p:nvSpPr>
        <p:spPr>
          <a:xfrm>
            <a:off x="457200" y="649224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Prompt-Guided Human Action Recognition using Vision-Language Fusion</a:t>
            </a:r>
            <a:endParaRPr lang="en-US" sz="900" dirty="0"/>
          </a:p>
        </p:txBody>
      </p:sp>
      <p:sp>
        <p:nvSpPr>
          <p:cNvPr id="36" name="Text 30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&amp; Pipeline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UCF101 — 9 selected action classes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640080" cy="640080"/>
          </a:xfrm>
          <a:prstGeom prst="ellipse">
            <a:avLst/>
          </a:prstGeom>
          <a:solidFill>
            <a:srgbClr val="0F1B3C"/>
          </a:solidFill>
          <a:ln/>
          <a:effectLst>
            <a:outerShdw sx="100000" sy="100000" kx="0" ky="0" algn="bl" rotWithShape="0" blurRad="76200" dist="25400" dir="5400000">
              <a:srgbClr val="10162B">
                <a:alpha val="25000"/>
              </a:srgbClr>
            </a:outerShdw>
          </a:effectLst>
        </p:spPr>
      </p:sp>
      <p:pic>
        <p:nvPicPr>
          <p:cNvPr id="5" name="Image 0" descr="icons/database_00A89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100" y="1805940"/>
            <a:ext cx="320040" cy="3200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71600" y="16459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UCF101 DATASET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1371600" y="192024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Group-safe split ensures no video-level leakage between train/test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548640" y="2423160"/>
            <a:ext cx="764438" cy="384048"/>
          </a:xfrm>
          <a:prstGeom prst="rect">
            <a:avLst>
              <a:gd name="adj" fmla="val 50000"/>
            </a:avLst>
          </a:prstGeom>
          <a:solidFill>
            <a:srgbClr val="F3F6FB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48640" y="2423160"/>
            <a:ext cx="76443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Archery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1441094" y="2423160"/>
            <a:ext cx="1005840" cy="384048"/>
          </a:xfrm>
          <a:prstGeom prst="rect">
            <a:avLst>
              <a:gd name="adj" fmla="val 50000"/>
            </a:avLst>
          </a:prstGeom>
          <a:solidFill>
            <a:srgbClr val="F3F6FB"/>
          </a:solidFill>
          <a:ln w="12700">
            <a:solidFill>
              <a:srgbClr val="F2C14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441094" y="2423160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Basketball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2574950" y="2423160"/>
            <a:ext cx="683971" cy="384048"/>
          </a:xfrm>
          <a:prstGeom prst="rect">
            <a:avLst>
              <a:gd name="adj" fmla="val 50000"/>
            </a:avLst>
          </a:prstGeom>
          <a:solidFill>
            <a:srgbClr val="F3F6FB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574950" y="2423160"/>
            <a:ext cx="68397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Biking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3386938" y="2423160"/>
            <a:ext cx="764438" cy="384048"/>
          </a:xfrm>
          <a:prstGeom prst="rect">
            <a:avLst>
              <a:gd name="adj" fmla="val 50000"/>
            </a:avLst>
          </a:prstGeom>
          <a:solidFill>
            <a:srgbClr val="F3F6FB"/>
          </a:solidFill>
          <a:ln w="12700">
            <a:solidFill>
              <a:srgbClr val="F2C14E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386938" y="2423160"/>
            <a:ext cx="76443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Bowling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4279392" y="2423160"/>
            <a:ext cx="844906" cy="384048"/>
          </a:xfrm>
          <a:prstGeom prst="rect">
            <a:avLst>
              <a:gd name="adj" fmla="val 50000"/>
            </a:avLst>
          </a:prstGeom>
          <a:solidFill>
            <a:srgbClr val="F3F6FB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279392" y="2423160"/>
            <a:ext cx="84490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Drumming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548640" y="2935224"/>
            <a:ext cx="1166774" cy="384048"/>
          </a:xfrm>
          <a:prstGeom prst="rect">
            <a:avLst>
              <a:gd name="adj" fmla="val 50000"/>
            </a:avLst>
          </a:prstGeom>
          <a:solidFill>
            <a:srgbClr val="F3F6FB"/>
          </a:solidFill>
          <a:ln w="12700">
            <a:solidFill>
              <a:srgbClr val="F2C14E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48640" y="2935224"/>
            <a:ext cx="116677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JavelinThrow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1843430" y="2935224"/>
            <a:ext cx="1247242" cy="384048"/>
          </a:xfrm>
          <a:prstGeom prst="rect">
            <a:avLst>
              <a:gd name="adj" fmla="val 50000"/>
            </a:avLst>
          </a:prstGeom>
          <a:solidFill>
            <a:srgbClr val="F3F6FB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1843430" y="2935224"/>
            <a:ext cx="124724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PlayingGuitar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3218688" y="2935224"/>
            <a:ext cx="1166774" cy="384048"/>
          </a:xfrm>
          <a:prstGeom prst="rect">
            <a:avLst>
              <a:gd name="adj" fmla="val 50000"/>
            </a:avLst>
          </a:prstGeom>
          <a:solidFill>
            <a:srgbClr val="F3F6FB"/>
          </a:solidFill>
          <a:ln w="12700">
            <a:solidFill>
              <a:srgbClr val="F2C14E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3218688" y="2935224"/>
            <a:ext cx="116677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RopeClimbing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4513478" y="2935224"/>
            <a:ext cx="683971" cy="384048"/>
          </a:xfrm>
          <a:prstGeom prst="rect">
            <a:avLst>
              <a:gd name="adj" fmla="val 50000"/>
            </a:avLst>
          </a:prstGeom>
          <a:solidFill>
            <a:srgbClr val="F3F6FB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513478" y="2935224"/>
            <a:ext cx="68397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Typing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7955280" y="1417320"/>
            <a:ext cx="3703320" cy="731520"/>
          </a:xfrm>
          <a:prstGeom prst="rect">
            <a:avLst>
              <a:gd name="adj" fmla="val 10000"/>
            </a:avLst>
          </a:prstGeom>
          <a:solidFill>
            <a:srgbClr val="0F1B3C"/>
          </a:solidFill>
          <a:ln/>
        </p:spPr>
      </p:sp>
      <p:sp>
        <p:nvSpPr>
          <p:cNvPr id="27" name="Text 24"/>
          <p:cNvSpPr/>
          <p:nvPr/>
        </p:nvSpPr>
        <p:spPr>
          <a:xfrm>
            <a:off x="8138160" y="1508760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F2C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SPLIT (GROUP-SAFE)</a:t>
            </a:r>
            <a:endParaRPr lang="en-US" sz="1050" dirty="0"/>
          </a:p>
        </p:txBody>
      </p:sp>
      <p:sp>
        <p:nvSpPr>
          <p:cNvPr id="28" name="Text 25"/>
          <p:cNvSpPr/>
          <p:nvPr/>
        </p:nvSpPr>
        <p:spPr>
          <a:xfrm>
            <a:off x="8138160" y="1810512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867</a:t>
            </a:r>
            <a:pPr indent="0" marL="0">
              <a:buNone/>
            </a:pPr>
            <a:r>
              <a:rPr lang="en-US" sz="1100" dirty="0">
                <a:solidFill>
                  <a:srgbClr val="A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train   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197</a:t>
            </a:r>
            <a:pPr indent="0" marL="0">
              <a:buNone/>
            </a:pPr>
            <a:r>
              <a:rPr lang="en-US" sz="1100" dirty="0">
                <a:solidFill>
                  <a:srgbClr val="A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val   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197</a:t>
            </a:r>
            <a:pPr indent="0" marL="0">
              <a:buNone/>
            </a:pPr>
            <a:r>
              <a:rPr lang="en-US" sz="1100" dirty="0">
                <a:solidFill>
                  <a:srgbClr val="A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test   </a:t>
            </a:r>
            <a:pPr indent="0" marL="0">
              <a:buNone/>
            </a:pPr>
            <a:r>
              <a:rPr lang="en-US" sz="1100" b="1" dirty="0">
                <a:solidFill>
                  <a:srgbClr val="F2C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1,261</a:t>
            </a:r>
            <a:pPr indent="0" marL="0">
              <a:buNone/>
            </a:pPr>
            <a:r>
              <a:rPr lang="en-US" sz="1100" dirty="0">
                <a:solidFill>
                  <a:srgbClr val="A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total videos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8586216" y="2276856"/>
            <a:ext cx="2441448" cy="2074109"/>
          </a:xfrm>
          <a:prstGeom prst="rect">
            <a:avLst>
              <a:gd name="adj" fmla="val 1763"/>
            </a:avLst>
          </a:prstGeom>
          <a:solidFill>
            <a:srgbClr val="FFFFFF"/>
          </a:solidFill>
          <a:ln w="12700">
            <a:solidFill>
              <a:srgbClr val="C7D1E8"/>
            </a:solidFill>
            <a:prstDash val="solid"/>
          </a:ln>
          <a:effectLst>
            <a:outerShdw sx="100000" sy="100000" kx="0" ky="0" algn="bl" rotWithShape="0" blurRad="76200" dist="25400" dir="5400000">
              <a:srgbClr val="A9B6D6">
                <a:alpha val="30000"/>
              </a:srgbClr>
            </a:outerShdw>
          </a:effectLst>
        </p:spPr>
      </p:sp>
      <p:pic>
        <p:nvPicPr>
          <p:cNvPr id="30" name="Image 1" descr="figures/drumming_contact_sheet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41080" y="2331720"/>
            <a:ext cx="2331720" cy="1964381"/>
          </a:xfrm>
          <a:prstGeom prst="rect">
            <a:avLst/>
          </a:prstGeom>
        </p:spPr>
      </p:pic>
      <p:sp>
        <p:nvSpPr>
          <p:cNvPr id="31" name="Text 27"/>
          <p:cNvSpPr/>
          <p:nvPr/>
        </p:nvSpPr>
        <p:spPr>
          <a:xfrm>
            <a:off x="7955280" y="4405829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Sample: 16 sampled frames — Drumming clip</a:t>
            </a:r>
            <a:endParaRPr lang="en-US" sz="900" dirty="0"/>
          </a:p>
        </p:txBody>
      </p:sp>
      <p:sp>
        <p:nvSpPr>
          <p:cNvPr id="32" name="Shape 28"/>
          <p:cNvSpPr/>
          <p:nvPr/>
        </p:nvSpPr>
        <p:spPr>
          <a:xfrm>
            <a:off x="251460" y="4457700"/>
            <a:ext cx="868680" cy="868680"/>
          </a:xfrm>
          <a:prstGeom prst="ellipse">
            <a:avLst/>
          </a:prstGeom>
          <a:solidFill>
            <a:srgbClr val="0F1B3C"/>
          </a:solidFill>
          <a:ln/>
          <a:effectLst>
            <a:outerShdw sx="100000" sy="100000" kx="0" ky="0" algn="bl" rotWithShape="0" blurRad="76200" dist="25400" dir="5400000">
              <a:srgbClr val="10162B">
                <a:alpha val="25000"/>
              </a:srgbClr>
            </a:outerShdw>
          </a:effectLst>
        </p:spPr>
      </p:sp>
      <p:pic>
        <p:nvPicPr>
          <p:cNvPr id="33" name="Image 2" descr="icons/video_00A896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630" y="4674870"/>
            <a:ext cx="434340" cy="434340"/>
          </a:xfrm>
          <a:prstGeom prst="rect">
            <a:avLst/>
          </a:prstGeom>
        </p:spPr>
      </p:pic>
      <p:sp>
        <p:nvSpPr>
          <p:cNvPr id="34" name="Text 29"/>
          <p:cNvSpPr/>
          <p:nvPr/>
        </p:nvSpPr>
        <p:spPr>
          <a:xfrm>
            <a:off x="-228600" y="5458968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</a:t>
            </a:r>
            <a:endParaRPr lang="en-US" sz="1150" dirty="0"/>
          </a:p>
        </p:txBody>
      </p:sp>
      <p:sp>
        <p:nvSpPr>
          <p:cNvPr id="35" name="Shape 30"/>
          <p:cNvSpPr/>
          <p:nvPr/>
        </p:nvSpPr>
        <p:spPr>
          <a:xfrm>
            <a:off x="1193292" y="4892040"/>
            <a:ext cx="1133856" cy="0"/>
          </a:xfrm>
          <a:prstGeom prst="line">
            <a:avLst/>
          </a:prstGeom>
          <a:noFill/>
          <a:ln w="25400">
            <a:solidFill>
              <a:srgbClr val="5B6B8C"/>
            </a:solidFill>
            <a:prstDash val="solid"/>
            <a:tailEnd type="triangle"/>
          </a:ln>
        </p:spPr>
      </p:sp>
      <p:sp>
        <p:nvSpPr>
          <p:cNvPr id="36" name="Shape 31"/>
          <p:cNvSpPr/>
          <p:nvPr/>
        </p:nvSpPr>
        <p:spPr>
          <a:xfrm>
            <a:off x="2400300" y="4457700"/>
            <a:ext cx="868680" cy="868680"/>
          </a:xfrm>
          <a:prstGeom prst="ellipse">
            <a:avLst/>
          </a:prstGeom>
          <a:solidFill>
            <a:srgbClr val="0F1B3C"/>
          </a:solidFill>
          <a:ln/>
          <a:effectLst>
            <a:outerShdw sx="100000" sy="100000" kx="0" ky="0" algn="bl" rotWithShape="0" blurRad="76200" dist="25400" dir="5400000">
              <a:srgbClr val="10162B">
                <a:alpha val="25000"/>
              </a:srgbClr>
            </a:outerShdw>
          </a:effectLst>
        </p:spPr>
      </p:sp>
      <p:pic>
        <p:nvPicPr>
          <p:cNvPr id="37" name="Image 3" descr="icons/cut_00A896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17470" y="4674870"/>
            <a:ext cx="434340" cy="434340"/>
          </a:xfrm>
          <a:prstGeom prst="rect">
            <a:avLst/>
          </a:prstGeom>
        </p:spPr>
      </p:pic>
      <p:sp>
        <p:nvSpPr>
          <p:cNvPr id="38" name="Text 32"/>
          <p:cNvSpPr/>
          <p:nvPr/>
        </p:nvSpPr>
        <p:spPr>
          <a:xfrm>
            <a:off x="1920240" y="5458968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</a:t>
            </a:r>
            <a:endParaRPr lang="en-US" sz="11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</a:t>
            </a:r>
            <a:endParaRPr lang="en-US" sz="1150" dirty="0"/>
          </a:p>
        </p:txBody>
      </p:sp>
      <p:sp>
        <p:nvSpPr>
          <p:cNvPr id="39" name="Shape 33"/>
          <p:cNvSpPr/>
          <p:nvPr/>
        </p:nvSpPr>
        <p:spPr>
          <a:xfrm>
            <a:off x="3342132" y="4892040"/>
            <a:ext cx="1133856" cy="0"/>
          </a:xfrm>
          <a:prstGeom prst="line">
            <a:avLst/>
          </a:prstGeom>
          <a:noFill/>
          <a:ln w="25400">
            <a:solidFill>
              <a:srgbClr val="5B6B8C"/>
            </a:solidFill>
            <a:prstDash val="solid"/>
            <a:tailEnd type="triangle"/>
          </a:ln>
        </p:spPr>
      </p:sp>
      <p:sp>
        <p:nvSpPr>
          <p:cNvPr id="40" name="Shape 34"/>
          <p:cNvSpPr/>
          <p:nvPr/>
        </p:nvSpPr>
        <p:spPr>
          <a:xfrm>
            <a:off x="4549140" y="4457700"/>
            <a:ext cx="868680" cy="868680"/>
          </a:xfrm>
          <a:prstGeom prst="ellipse">
            <a:avLst/>
          </a:prstGeom>
          <a:solidFill>
            <a:srgbClr val="0F1B3C"/>
          </a:solidFill>
          <a:ln/>
          <a:effectLst>
            <a:outerShdw sx="100000" sy="100000" kx="0" ky="0" algn="bl" rotWithShape="0" blurRad="76200" dist="25400" dir="5400000">
              <a:srgbClr val="10162B">
                <a:alpha val="25000"/>
              </a:srgbClr>
            </a:outerShdw>
          </a:effectLst>
        </p:spPr>
      </p:sp>
      <p:pic>
        <p:nvPicPr>
          <p:cNvPr id="41" name="Image 4" descr="icons/branch_00A896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66310" y="4674870"/>
            <a:ext cx="434340" cy="434340"/>
          </a:xfrm>
          <a:prstGeom prst="rect">
            <a:avLst/>
          </a:prstGeom>
        </p:spPr>
      </p:pic>
      <p:sp>
        <p:nvSpPr>
          <p:cNvPr id="42" name="Text 35"/>
          <p:cNvSpPr/>
          <p:nvPr/>
        </p:nvSpPr>
        <p:spPr>
          <a:xfrm>
            <a:off x="4069080" y="5458968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1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</a:t>
            </a:r>
            <a:endParaRPr lang="en-US" sz="1150" dirty="0"/>
          </a:p>
        </p:txBody>
      </p:sp>
      <p:sp>
        <p:nvSpPr>
          <p:cNvPr id="43" name="Shape 36"/>
          <p:cNvSpPr/>
          <p:nvPr/>
        </p:nvSpPr>
        <p:spPr>
          <a:xfrm>
            <a:off x="5490972" y="4892040"/>
            <a:ext cx="1133856" cy="0"/>
          </a:xfrm>
          <a:prstGeom prst="line">
            <a:avLst/>
          </a:prstGeom>
          <a:noFill/>
          <a:ln w="25400">
            <a:solidFill>
              <a:srgbClr val="5B6B8C"/>
            </a:solidFill>
            <a:prstDash val="solid"/>
            <a:tailEnd type="triangle"/>
          </a:ln>
        </p:spPr>
      </p:sp>
      <p:sp>
        <p:nvSpPr>
          <p:cNvPr id="44" name="Shape 37"/>
          <p:cNvSpPr/>
          <p:nvPr/>
        </p:nvSpPr>
        <p:spPr>
          <a:xfrm>
            <a:off x="6697980" y="4457700"/>
            <a:ext cx="868680" cy="868680"/>
          </a:xfrm>
          <a:prstGeom prst="ellipse">
            <a:avLst/>
          </a:prstGeom>
          <a:solidFill>
            <a:srgbClr val="0F1B3C"/>
          </a:solidFill>
          <a:ln/>
          <a:effectLst>
            <a:outerShdw sx="100000" sy="100000" kx="0" ky="0" algn="bl" rotWithShape="0" blurRad="76200" dist="25400" dir="5400000">
              <a:srgbClr val="10162B">
                <a:alpha val="25000"/>
              </a:srgbClr>
            </a:outerShdw>
          </a:effectLst>
        </p:spPr>
      </p:sp>
      <p:pic>
        <p:nvPicPr>
          <p:cNvPr id="45" name="Image 5" descr="icons/chip_00A896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15150" y="4674870"/>
            <a:ext cx="434340" cy="434340"/>
          </a:xfrm>
          <a:prstGeom prst="rect">
            <a:avLst/>
          </a:prstGeom>
        </p:spPr>
      </p:pic>
      <p:sp>
        <p:nvSpPr>
          <p:cNvPr id="46" name="Text 38"/>
          <p:cNvSpPr/>
          <p:nvPr/>
        </p:nvSpPr>
        <p:spPr>
          <a:xfrm>
            <a:off x="6217920" y="5458968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1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</a:t>
            </a:r>
            <a:endParaRPr lang="en-US" sz="1150" dirty="0"/>
          </a:p>
        </p:txBody>
      </p:sp>
      <p:sp>
        <p:nvSpPr>
          <p:cNvPr id="47" name="Shape 39"/>
          <p:cNvSpPr/>
          <p:nvPr/>
        </p:nvSpPr>
        <p:spPr>
          <a:xfrm>
            <a:off x="7639812" y="4892040"/>
            <a:ext cx="1133856" cy="0"/>
          </a:xfrm>
          <a:prstGeom prst="line">
            <a:avLst/>
          </a:prstGeom>
          <a:noFill/>
          <a:ln w="25400">
            <a:solidFill>
              <a:srgbClr val="5B6B8C"/>
            </a:solidFill>
            <a:prstDash val="solid"/>
            <a:tailEnd type="triangle"/>
          </a:ln>
        </p:spPr>
      </p:sp>
      <p:sp>
        <p:nvSpPr>
          <p:cNvPr id="48" name="Shape 40"/>
          <p:cNvSpPr/>
          <p:nvPr/>
        </p:nvSpPr>
        <p:spPr>
          <a:xfrm>
            <a:off x="8846820" y="4457700"/>
            <a:ext cx="868680" cy="868680"/>
          </a:xfrm>
          <a:prstGeom prst="ellipse">
            <a:avLst/>
          </a:prstGeom>
          <a:solidFill>
            <a:srgbClr val="F2C14E"/>
          </a:solidFill>
          <a:ln/>
          <a:effectLst>
            <a:outerShdw sx="100000" sy="100000" kx="0" ky="0" algn="bl" rotWithShape="0" blurRad="76200" dist="25400" dir="5400000">
              <a:srgbClr val="10162B">
                <a:alpha val="25000"/>
              </a:srgbClr>
            </a:outerShdw>
          </a:effectLst>
        </p:spPr>
      </p:sp>
      <p:pic>
        <p:nvPicPr>
          <p:cNvPr id="49" name="Image 6" descr="icons/tags_0F1B3C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63990" y="4674870"/>
            <a:ext cx="434340" cy="434340"/>
          </a:xfrm>
          <a:prstGeom prst="rect">
            <a:avLst/>
          </a:prstGeom>
        </p:spPr>
      </p:pic>
      <p:sp>
        <p:nvSpPr>
          <p:cNvPr id="50" name="Text 41"/>
          <p:cNvSpPr/>
          <p:nvPr/>
        </p:nvSpPr>
        <p:spPr>
          <a:xfrm>
            <a:off x="8366760" y="5458968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</a:t>
            </a:r>
            <a:endParaRPr lang="en-US" sz="1150" dirty="0"/>
          </a:p>
        </p:txBody>
      </p:sp>
      <p:sp>
        <p:nvSpPr>
          <p:cNvPr id="51" name="Text 42"/>
          <p:cNvSpPr/>
          <p:nvPr/>
        </p:nvSpPr>
        <p:spPr>
          <a:xfrm>
            <a:off x="685800" y="42976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F1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</a:t>
            </a:r>
            <a:endParaRPr lang="en-US" sz="1200" dirty="0"/>
          </a:p>
        </p:txBody>
      </p:sp>
      <p:sp>
        <p:nvSpPr>
          <p:cNvPr id="52" name="Text 43"/>
          <p:cNvSpPr/>
          <p:nvPr/>
        </p:nvSpPr>
        <p:spPr>
          <a:xfrm>
            <a:off x="457200" y="649224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Prompt-Guided Human Action Recognition using Vision-Language Fusion</a:t>
            </a:r>
            <a:endParaRPr lang="en-US" sz="900" dirty="0"/>
          </a:p>
        </p:txBody>
      </p:sp>
      <p:sp>
        <p:nvSpPr>
          <p:cNvPr id="53" name="Text 44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Methodology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Dual-branch vision-language fusion architecture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868680" y="1325880"/>
            <a:ext cx="822960" cy="822960"/>
          </a:xfrm>
          <a:prstGeom prst="ellipse">
            <a:avLst/>
          </a:prstGeom>
          <a:solidFill>
            <a:srgbClr val="00A896"/>
          </a:solidFill>
          <a:ln/>
          <a:effectLst>
            <a:outerShdw sx="100000" sy="100000" kx="0" ky="0" algn="bl" rotWithShape="0" blurRad="76200" dist="25400" dir="5400000">
              <a:srgbClr val="10162B">
                <a:alpha val="25000"/>
              </a:srgbClr>
            </a:outerShdw>
          </a:effectLst>
        </p:spPr>
      </p:sp>
      <p:pic>
        <p:nvPicPr>
          <p:cNvPr id="5" name="Image 0" descr="icons/video_0F1B3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" y="1531620"/>
            <a:ext cx="41148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226771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ResNet18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1691640" y="1737360"/>
            <a:ext cx="1051560" cy="0"/>
          </a:xfrm>
          <a:prstGeom prst="line">
            <a:avLst/>
          </a:prstGeom>
          <a:noFill/>
          <a:ln w="25400">
            <a:solidFill>
              <a:srgbClr val="5B6B8C"/>
            </a:solidFill>
            <a:prstDash val="solid"/>
            <a:tailEnd type="triangle"/>
          </a:ln>
        </p:spPr>
      </p:sp>
      <p:sp>
        <p:nvSpPr>
          <p:cNvPr id="8" name="Shape 5"/>
          <p:cNvSpPr/>
          <p:nvPr/>
        </p:nvSpPr>
        <p:spPr>
          <a:xfrm>
            <a:off x="2697480" y="1325880"/>
            <a:ext cx="822960" cy="822960"/>
          </a:xfrm>
          <a:prstGeom prst="ellipse">
            <a:avLst/>
          </a:prstGeom>
          <a:solidFill>
            <a:srgbClr val="00A896"/>
          </a:solidFill>
          <a:ln/>
          <a:effectLst>
            <a:outerShdw sx="100000" sy="100000" kx="0" ky="0" algn="bl" rotWithShape="0" blurRad="76200" dist="25400" dir="5400000">
              <a:srgbClr val="10162B">
                <a:alpha val="25000"/>
              </a:srgbClr>
            </a:outerShdw>
          </a:effectLst>
        </p:spPr>
      </p:sp>
      <p:pic>
        <p:nvPicPr>
          <p:cNvPr id="9" name="Image 1" descr="icons/chip_0F1B3C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3220" y="1531620"/>
            <a:ext cx="411480" cy="41148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2331720" y="226771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Features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868680" y="2880360"/>
            <a:ext cx="822960" cy="822960"/>
          </a:xfrm>
          <a:prstGeom prst="ellipse">
            <a:avLst/>
          </a:prstGeom>
          <a:solidFill>
            <a:srgbClr val="F2C14E"/>
          </a:solidFill>
          <a:ln/>
          <a:effectLst>
            <a:outerShdw sx="100000" sy="100000" kx="0" ky="0" algn="bl" rotWithShape="0" blurRad="76200" dist="25400" dir="5400000">
              <a:srgbClr val="10162B">
                <a:alpha val="25000"/>
              </a:srgbClr>
            </a:outerShdw>
          </a:effectLst>
        </p:spPr>
      </p:sp>
      <p:pic>
        <p:nvPicPr>
          <p:cNvPr id="12" name="Image 2" descr="icons/language_0F1B3C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4420" y="3086100"/>
            <a:ext cx="411480" cy="41148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02920" y="382219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Sentence-BERT</a:t>
            </a:r>
            <a:endParaRPr lang="en-US" sz="1100" dirty="0"/>
          </a:p>
        </p:txBody>
      </p:sp>
      <p:sp>
        <p:nvSpPr>
          <p:cNvPr id="14" name="Shape 9"/>
          <p:cNvSpPr/>
          <p:nvPr/>
        </p:nvSpPr>
        <p:spPr>
          <a:xfrm>
            <a:off x="1691640" y="3291840"/>
            <a:ext cx="1051560" cy="0"/>
          </a:xfrm>
          <a:prstGeom prst="line">
            <a:avLst/>
          </a:prstGeom>
          <a:noFill/>
          <a:ln w="25400">
            <a:solidFill>
              <a:srgbClr val="5B6B8C"/>
            </a:solidFill>
            <a:prstDash val="solid"/>
            <a:tailEnd type="triangle"/>
          </a:ln>
        </p:spPr>
      </p:sp>
      <p:sp>
        <p:nvSpPr>
          <p:cNvPr id="15" name="Shape 10"/>
          <p:cNvSpPr/>
          <p:nvPr/>
        </p:nvSpPr>
        <p:spPr>
          <a:xfrm>
            <a:off x="2697480" y="2880360"/>
            <a:ext cx="822960" cy="822960"/>
          </a:xfrm>
          <a:prstGeom prst="ellipse">
            <a:avLst/>
          </a:prstGeom>
          <a:solidFill>
            <a:srgbClr val="F2C14E"/>
          </a:solidFill>
          <a:ln/>
          <a:effectLst>
            <a:outerShdw sx="100000" sy="100000" kx="0" ky="0" algn="bl" rotWithShape="0" blurRad="76200" dist="25400" dir="5400000">
              <a:srgbClr val="10162B">
                <a:alpha val="25000"/>
              </a:srgbClr>
            </a:outerShdw>
          </a:effectLst>
        </p:spPr>
      </p:sp>
      <p:pic>
        <p:nvPicPr>
          <p:cNvPr id="16" name="Image 3" descr="icons/bookopen_0F1B3C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03220" y="3086100"/>
            <a:ext cx="411480" cy="41148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2331720" y="382219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Space</a:t>
            </a:r>
            <a:endParaRPr lang="en-US" sz="1050" dirty="0"/>
          </a:p>
        </p:txBody>
      </p:sp>
      <p:sp>
        <p:nvSpPr>
          <p:cNvPr id="18" name="Shape 12"/>
          <p:cNvSpPr/>
          <p:nvPr/>
        </p:nvSpPr>
        <p:spPr>
          <a:xfrm>
            <a:off x="3520440" y="1737360"/>
            <a:ext cx="868680" cy="777240"/>
          </a:xfrm>
          <a:prstGeom prst="line">
            <a:avLst/>
          </a:prstGeom>
          <a:noFill/>
          <a:ln w="25400">
            <a:solidFill>
              <a:srgbClr val="5B6B8C"/>
            </a:solidFill>
            <a:prstDash val="solid"/>
            <a:headEnd type="none"/>
          </a:ln>
        </p:spPr>
      </p:sp>
      <p:sp>
        <p:nvSpPr>
          <p:cNvPr id="19" name="Shape 13"/>
          <p:cNvSpPr/>
          <p:nvPr/>
        </p:nvSpPr>
        <p:spPr>
          <a:xfrm>
            <a:off x="3520440" y="3291840"/>
            <a:ext cx="868680" cy="-777240"/>
          </a:xfrm>
          <a:prstGeom prst="line">
            <a:avLst/>
          </a:prstGeom>
          <a:noFill/>
          <a:ln w="25400">
            <a:solidFill>
              <a:srgbClr val="5B6B8C"/>
            </a:solidFill>
            <a:prstDash val="solid"/>
          </a:ln>
        </p:spPr>
      </p:sp>
      <p:sp>
        <p:nvSpPr>
          <p:cNvPr id="20" name="Shape 14"/>
          <p:cNvSpPr/>
          <p:nvPr/>
        </p:nvSpPr>
        <p:spPr>
          <a:xfrm>
            <a:off x="3863340" y="1988820"/>
            <a:ext cx="1051560" cy="1051560"/>
          </a:xfrm>
          <a:prstGeom prst="ellipse">
            <a:avLst/>
          </a:prstGeom>
          <a:solidFill>
            <a:srgbClr val="0F1B3C"/>
          </a:solidFill>
          <a:ln/>
          <a:effectLst>
            <a:outerShdw sx="100000" sy="100000" kx="0" ky="0" algn="bl" rotWithShape="0" blurRad="76200" dist="25400" dir="5400000">
              <a:srgbClr val="10162B">
                <a:alpha val="25000"/>
              </a:srgbClr>
            </a:outerShdw>
          </a:effectLst>
        </p:spPr>
      </p:sp>
      <p:pic>
        <p:nvPicPr>
          <p:cNvPr id="21" name="Image 4" descr="icons/bullseye_F2C14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26230" y="2251710"/>
            <a:ext cx="525780" cy="52578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3383280" y="317296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Leakage-Safe</a:t>
            </a:r>
            <a:endParaRPr lang="en-US" sz="11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Projection</a:t>
            </a:r>
            <a:endParaRPr lang="en-US" sz="1100" dirty="0"/>
          </a:p>
        </p:txBody>
      </p:sp>
      <p:sp>
        <p:nvSpPr>
          <p:cNvPr id="23" name="Shape 16"/>
          <p:cNvSpPr/>
          <p:nvPr/>
        </p:nvSpPr>
        <p:spPr>
          <a:xfrm>
            <a:off x="4937760" y="2514600"/>
            <a:ext cx="1097280" cy="0"/>
          </a:xfrm>
          <a:prstGeom prst="line">
            <a:avLst/>
          </a:prstGeom>
          <a:noFill/>
          <a:ln w="25400">
            <a:solidFill>
              <a:srgbClr val="5B6B8C"/>
            </a:solidFill>
            <a:prstDash val="solid"/>
            <a:tailEnd type="triangle"/>
          </a:ln>
        </p:spPr>
      </p:sp>
      <p:sp>
        <p:nvSpPr>
          <p:cNvPr id="24" name="Shape 17"/>
          <p:cNvSpPr/>
          <p:nvPr/>
        </p:nvSpPr>
        <p:spPr>
          <a:xfrm>
            <a:off x="6195060" y="1988820"/>
            <a:ext cx="1051560" cy="1051560"/>
          </a:xfrm>
          <a:prstGeom prst="ellipse">
            <a:avLst/>
          </a:prstGeom>
          <a:solidFill>
            <a:srgbClr val="00A896"/>
          </a:solidFill>
          <a:ln/>
          <a:effectLst>
            <a:outerShdw sx="100000" sy="100000" kx="0" ky="0" algn="bl" rotWithShape="0" blurRad="76200" dist="25400" dir="5400000">
              <a:srgbClr val="10162B">
                <a:alpha val="25000"/>
              </a:srgbClr>
            </a:outerShdw>
          </a:effectLst>
        </p:spPr>
      </p:sp>
      <p:pic>
        <p:nvPicPr>
          <p:cNvPr id="25" name="Image 5" descr="icons/check_0F1B3C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57950" y="2251710"/>
            <a:ext cx="525780" cy="52578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5806440" y="317296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</a:t>
            </a:r>
            <a:endParaRPr lang="en-US" sz="1200" dirty="0"/>
          </a:p>
        </p:txBody>
      </p:sp>
      <p:sp>
        <p:nvSpPr>
          <p:cNvPr id="27" name="Shape 19"/>
          <p:cNvSpPr/>
          <p:nvPr/>
        </p:nvSpPr>
        <p:spPr>
          <a:xfrm>
            <a:off x="8092440" y="1554480"/>
            <a:ext cx="3566160" cy="3108960"/>
          </a:xfrm>
          <a:prstGeom prst="rect">
            <a:avLst>
              <a:gd name="adj" fmla="val 2353"/>
            </a:avLst>
          </a:prstGeom>
          <a:solidFill>
            <a:srgbClr val="F3F6FB"/>
          </a:solidFill>
          <a:ln/>
        </p:spPr>
      </p:sp>
      <p:sp>
        <p:nvSpPr>
          <p:cNvPr id="28" name="Text 20"/>
          <p:cNvSpPr/>
          <p:nvPr/>
        </p:nvSpPr>
        <p:spPr>
          <a:xfrm>
            <a:off x="8321040" y="17373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F1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FUSION WORKS</a:t>
            </a:r>
            <a:endParaRPr lang="en-US" sz="1200" dirty="0"/>
          </a:p>
        </p:txBody>
      </p:sp>
      <p:sp>
        <p:nvSpPr>
          <p:cNvPr id="29" name="Text 21"/>
          <p:cNvSpPr/>
          <p:nvPr/>
        </p:nvSpPr>
        <p:spPr>
          <a:xfrm>
            <a:off x="8321040" y="210312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branch: ResNet18 extracts frame-level features, pooled into a video embedding.</a:t>
            </a:r>
            <a:endParaRPr lang="en-US" sz="1050" dirty="0"/>
          </a:p>
        </p:txBody>
      </p:sp>
      <p:sp>
        <p:nvSpPr>
          <p:cNvPr id="30" name="Text 22"/>
          <p:cNvSpPr/>
          <p:nvPr/>
        </p:nvSpPr>
        <p:spPr>
          <a:xfrm>
            <a:off x="8321040" y="2944368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 branch: Sentence-BERT encodes action-class prompts into a semantic embedding space.</a:t>
            </a:r>
            <a:endParaRPr lang="en-US" sz="1050" dirty="0"/>
          </a:p>
        </p:txBody>
      </p:sp>
      <p:sp>
        <p:nvSpPr>
          <p:cNvPr id="31" name="Text 23"/>
          <p:cNvSpPr/>
          <p:nvPr/>
        </p:nvSpPr>
        <p:spPr>
          <a:xfrm>
            <a:off x="8321040" y="3785616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projection network maps visual features into semantic space in a leakage-safe manner (no test-time label access), enabling prediction by nearest semantic match.</a:t>
            </a:r>
            <a:endParaRPr lang="en-US" sz="1050" dirty="0"/>
          </a:p>
        </p:txBody>
      </p:sp>
      <p:sp>
        <p:nvSpPr>
          <p:cNvPr id="32" name="Text 24"/>
          <p:cNvSpPr/>
          <p:nvPr/>
        </p:nvSpPr>
        <p:spPr>
          <a:xfrm>
            <a:off x="457200" y="649224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Prompt-Guided Human Action Recognition using Vision-Language Fusion</a:t>
            </a:r>
            <a:endParaRPr lang="en-US" sz="900" dirty="0"/>
          </a:p>
        </p:txBody>
      </p:sp>
      <p:sp>
        <p:nvSpPr>
          <p:cNvPr id="33" name="Text 25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Experimental Results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 across three experimental configurations</a:t>
            </a:r>
            <a:endParaRPr lang="en-US" sz="13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7223760" cy="2286000"/>
        </p:xfrm>
        <a:graphic>
          <a:graphicData uri="http://schemas.openxmlformats.org/drawingml/2006/table">
            <a:tbl>
              <a:tblPr/>
              <a:tblGrid>
                <a:gridCol w="2148840"/>
                <a:gridCol w="1051560"/>
                <a:gridCol w="1051560"/>
                <a:gridCol w="1051560"/>
                <a:gridCol w="960120"/>
                <a:gridCol w="960120"/>
              </a:tblGrid>
              <a:tr h="5715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3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3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Macro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3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Macro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3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Macro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3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Weighted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3C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Video-Only Baseline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93.40%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92.89%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92.84%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92.77%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93.41%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Oracle Fusion*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C243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Leakage-Safe Semantic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Projection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A89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87.82%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87.09%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87.40%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86.39%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87.34%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3840480"/>
            <a:ext cx="7223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C243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*Oracle Fusion caused by label leakage — not a valid deployable model. (0 of 197 test videos misclassified — a perfect, but meaningless, diagonal.)</a:t>
            </a:r>
            <a:endParaRPr lang="en-US" sz="950" dirty="0"/>
          </a:p>
        </p:txBody>
      </p:sp>
      <p:sp>
        <p:nvSpPr>
          <p:cNvPr id="6" name="Shape 3"/>
          <p:cNvSpPr/>
          <p:nvPr/>
        </p:nvSpPr>
        <p:spPr>
          <a:xfrm>
            <a:off x="8092440" y="1463040"/>
            <a:ext cx="3566160" cy="4663440"/>
          </a:xfrm>
          <a:prstGeom prst="rect">
            <a:avLst>
              <a:gd name="adj" fmla="val 2564"/>
            </a:avLst>
          </a:prstGeom>
          <a:solidFill>
            <a:srgbClr val="0F1B3C"/>
          </a:solidFill>
          <a:ln/>
        </p:spPr>
      </p:sp>
      <p:sp>
        <p:nvSpPr>
          <p:cNvPr id="7" name="Text 4"/>
          <p:cNvSpPr/>
          <p:nvPr/>
        </p:nvSpPr>
        <p:spPr>
          <a:xfrm>
            <a:off x="8366760" y="167335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2C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OBSERVATIONS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8366760" y="2157984"/>
            <a:ext cx="100584" cy="100584"/>
          </a:xfrm>
          <a:prstGeom prst="ellipse">
            <a:avLst/>
          </a:prstGeom>
          <a:solidFill>
            <a:srgbClr val="F2C14E"/>
          </a:solidFill>
          <a:ln/>
        </p:spPr>
      </p:sp>
      <p:sp>
        <p:nvSpPr>
          <p:cNvPr id="9" name="Text 6"/>
          <p:cNvSpPr/>
          <p:nvPr/>
        </p:nvSpPr>
        <p:spPr>
          <a:xfrm>
            <a:off x="8613648" y="2011680"/>
            <a:ext cx="28803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30" dirty="0">
                <a:solidFill>
                  <a:srgbClr val="E7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Video-Only Baseline: strong, fully deployable at 93.40% accuracy — 197 held-out test videos, 4 of 9 classes at a perfect F1 (Bowling, Drumming, PlayingGuitar, Typing).</a:t>
            </a:r>
            <a:endParaRPr lang="en-US" sz="1030" dirty="0"/>
          </a:p>
        </p:txBody>
      </p:sp>
      <p:sp>
        <p:nvSpPr>
          <p:cNvPr id="10" name="Shape 7"/>
          <p:cNvSpPr/>
          <p:nvPr/>
        </p:nvSpPr>
        <p:spPr>
          <a:xfrm>
            <a:off x="8366760" y="3456432"/>
            <a:ext cx="100584" cy="100584"/>
          </a:xfrm>
          <a:prstGeom prst="ellipse">
            <a:avLst/>
          </a:prstGeom>
          <a:solidFill>
            <a:srgbClr val="F2C14E"/>
          </a:solidFill>
          <a:ln/>
        </p:spPr>
      </p:sp>
      <p:sp>
        <p:nvSpPr>
          <p:cNvPr id="11" name="Text 8"/>
          <p:cNvSpPr/>
          <p:nvPr/>
        </p:nvSpPr>
        <p:spPr>
          <a:xfrm>
            <a:off x="8613648" y="3310128"/>
            <a:ext cx="28803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30" dirty="0">
                <a:solidFill>
                  <a:srgbClr val="E7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Fusion hits 100% only because the ground-truth label leaked in via the text embedding — confirmed by Fig. 5.2's perfect diagonal, not a real result.</a:t>
            </a:r>
            <a:endParaRPr lang="en-US" sz="1030" dirty="0"/>
          </a:p>
        </p:txBody>
      </p:sp>
      <p:sp>
        <p:nvSpPr>
          <p:cNvPr id="12" name="Shape 9"/>
          <p:cNvSpPr/>
          <p:nvPr/>
        </p:nvSpPr>
        <p:spPr>
          <a:xfrm>
            <a:off x="8366760" y="4754880"/>
            <a:ext cx="100584" cy="100584"/>
          </a:xfrm>
          <a:prstGeom prst="ellipse">
            <a:avLst/>
          </a:prstGeom>
          <a:solidFill>
            <a:srgbClr val="F2C14E"/>
          </a:solidFill>
          <a:ln/>
        </p:spPr>
      </p:sp>
      <p:sp>
        <p:nvSpPr>
          <p:cNvPr id="13" name="Text 10"/>
          <p:cNvSpPr/>
          <p:nvPr/>
        </p:nvSpPr>
        <p:spPr>
          <a:xfrm>
            <a:off x="8613648" y="4608576"/>
            <a:ext cx="28803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30" dirty="0">
                <a:solidFill>
                  <a:srgbClr val="E7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Leakage-Safe Semantic Projection: 87.82% honestly, 5.58 pts below the baseline — its errors (e.g. Archery ↔ JavelinThrow) track genuine semantic similarity, not random failure.</a:t>
            </a:r>
            <a:endParaRPr lang="en-US" sz="1030" dirty="0"/>
          </a:p>
        </p:txBody>
      </p:sp>
      <p:sp>
        <p:nvSpPr>
          <p:cNvPr id="14" name="Text 11"/>
          <p:cNvSpPr/>
          <p:nvPr/>
        </p:nvSpPr>
        <p:spPr>
          <a:xfrm>
            <a:off x="457200" y="649224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Prompt-Guided Human Action Recognition using Vision-Language Fusion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Visual Analysis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Sentence-BERT semantic similarity heatmap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6537960" cy="4572000"/>
          </a:xfrm>
          <a:prstGeom prst="rect">
            <a:avLst>
              <a:gd name="adj" fmla="val 1600"/>
            </a:avLst>
          </a:prstGeom>
          <a:solidFill>
            <a:srgbClr val="F3F6FB"/>
          </a:solidFill>
          <a:ln w="12700">
            <a:solidFill>
              <a:srgbClr val="C7D1E8"/>
            </a:solidFill>
            <a:prstDash val="solid"/>
          </a:ln>
        </p:spPr>
      </p:sp>
      <p:pic>
        <p:nvPicPr>
          <p:cNvPr id="5" name="Image 0" descr="figures/fig_5_4_heatmap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77240" y="1691640"/>
            <a:ext cx="6080760" cy="3886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77240" y="5596128"/>
            <a:ext cx="6080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5.4 — Sentence-BERT Action-Class Semantic Similarity Heatmap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7315200" y="1508760"/>
            <a:ext cx="4343400" cy="4572000"/>
          </a:xfrm>
          <a:prstGeom prst="rect">
            <a:avLst>
              <a:gd name="adj" fmla="val 2105"/>
            </a:avLst>
          </a:prstGeom>
          <a:solidFill>
            <a:srgbClr val="0F1B3C"/>
          </a:solidFill>
          <a:ln/>
        </p:spPr>
      </p:sp>
      <p:sp>
        <p:nvSpPr>
          <p:cNvPr id="8" name="Text 5"/>
          <p:cNvSpPr/>
          <p:nvPr/>
        </p:nvSpPr>
        <p:spPr>
          <a:xfrm>
            <a:off x="7589520" y="173736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2C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SHOWS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589520" y="2148840"/>
            <a:ext cx="3794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7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heatmap plots pairwise cosine similarity between Sentence-BERT embeddings of each action-class prompt.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7589520" y="3017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similarity (most alike)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7589520" y="333756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9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Drumming ↔ PlayingGuitar (0.52)   ·   Basketball ↔ Bowling (0.50)   ·   Archery ↔ JavelinThrow (0.49)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7589520" y="3977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C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Lowest similarity (least alike)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7589520" y="429768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9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JavelinThrow ↔ Typing (0.15)   ·   Bowling ↔ Typing (0.17)   ·   Archery ↔ Typing (0.21)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7589520" y="4983480"/>
            <a:ext cx="3794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050" i="1" dirty="0">
                <a:solidFill>
                  <a:srgbClr val="A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Notably, Archery ↔ JavelinThrow — the pair most confused by the visual baseline — is also among the most semantically similar. This is exactly the confusion the leakage-safe projection model reproduces later.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457200" y="649224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Prompt-Guided Human Action Recognition using Vision-Language Fusion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Confusion Matrix Analysis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configurations, three very different stories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3383280" cy="3200400"/>
          </a:xfrm>
          <a:prstGeom prst="rect">
            <a:avLst>
              <a:gd name="adj" fmla="val 2286"/>
            </a:avLst>
          </a:prstGeom>
          <a:solidFill>
            <a:srgbClr val="F3F6FB"/>
          </a:solidFill>
          <a:ln w="22225">
            <a:solidFill>
              <a:srgbClr val="00A89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600200"/>
            <a:ext cx="3017520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7D1E8"/>
            </a:solidFill>
            <a:prstDash val="solid"/>
          </a:ln>
        </p:spPr>
      </p:sp>
      <p:pic>
        <p:nvPicPr>
          <p:cNvPr id="6" name="Image 0" descr="figures/fig_5_1_baseline_cm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04672" y="1673352"/>
            <a:ext cx="2871216" cy="209397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5800" y="38862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Video-Only Baseline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85800" y="466344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5.1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685800" y="4910328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97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Realistic errors: JavelinThrow→Basketball (4), Archery→JavelinThrow (3).</a:t>
            </a:r>
            <a:endParaRPr lang="en-US" sz="970" dirty="0"/>
          </a:p>
        </p:txBody>
      </p:sp>
      <p:sp>
        <p:nvSpPr>
          <p:cNvPr id="10" name="Shape 7"/>
          <p:cNvSpPr/>
          <p:nvPr/>
        </p:nvSpPr>
        <p:spPr>
          <a:xfrm>
            <a:off x="4251960" y="1417320"/>
            <a:ext cx="3383280" cy="3200400"/>
          </a:xfrm>
          <a:prstGeom prst="rect">
            <a:avLst>
              <a:gd name="adj" fmla="val 2286"/>
            </a:avLst>
          </a:prstGeom>
          <a:solidFill>
            <a:srgbClr val="F3F6FB"/>
          </a:solidFill>
          <a:ln w="22225">
            <a:solidFill>
              <a:srgbClr val="C2434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434840" y="1600200"/>
            <a:ext cx="3017520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7D1E8"/>
            </a:solidFill>
            <a:prstDash val="solid"/>
          </a:ln>
        </p:spPr>
      </p:sp>
      <p:pic>
        <p:nvPicPr>
          <p:cNvPr id="12" name="Image 1" descr="figures/fig_5_2_oracle_cm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507992" y="1673352"/>
            <a:ext cx="2871216" cy="2093976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6400800" y="1527048"/>
            <a:ext cx="1051560" cy="292608"/>
          </a:xfrm>
          <a:prstGeom prst="rect">
            <a:avLst>
              <a:gd name="adj" fmla="val 50000"/>
            </a:avLst>
          </a:prstGeom>
          <a:solidFill>
            <a:srgbClr val="C24343"/>
          </a:solidFill>
          <a:ln/>
        </p:spPr>
      </p:sp>
      <p:sp>
        <p:nvSpPr>
          <p:cNvPr id="14" name="Text 10"/>
          <p:cNvSpPr/>
          <p:nvPr/>
        </p:nvSpPr>
        <p:spPr>
          <a:xfrm>
            <a:off x="6400800" y="1527048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LEAKAGE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4389120" y="38862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Fusion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4389120" y="466344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5.2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4389120" y="4910328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97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Perfect diagonal — all 197/197 correct — caused by label leakage.</a:t>
            </a:r>
            <a:endParaRPr lang="en-US" sz="970" dirty="0"/>
          </a:p>
        </p:txBody>
      </p:sp>
      <p:sp>
        <p:nvSpPr>
          <p:cNvPr id="18" name="Shape 14"/>
          <p:cNvSpPr/>
          <p:nvPr/>
        </p:nvSpPr>
        <p:spPr>
          <a:xfrm>
            <a:off x="7955280" y="1417320"/>
            <a:ext cx="3383280" cy="3200400"/>
          </a:xfrm>
          <a:prstGeom prst="rect">
            <a:avLst>
              <a:gd name="adj" fmla="val 2286"/>
            </a:avLst>
          </a:prstGeom>
          <a:solidFill>
            <a:srgbClr val="F3F6FB"/>
          </a:solidFill>
          <a:ln w="22225">
            <a:solidFill>
              <a:srgbClr val="00A896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8138160" y="1600200"/>
            <a:ext cx="3017520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7D1E8"/>
            </a:solidFill>
            <a:prstDash val="solid"/>
          </a:ln>
        </p:spPr>
      </p:sp>
      <p:pic>
        <p:nvPicPr>
          <p:cNvPr id="20" name="Image 2" descr="figures/fig_5_3_semantic_cm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211312" y="1673352"/>
            <a:ext cx="2871216" cy="2093976"/>
          </a:xfrm>
          <a:prstGeom prst="rect">
            <a:avLst/>
          </a:prstGeom>
        </p:spPr>
      </p:pic>
      <p:sp>
        <p:nvSpPr>
          <p:cNvPr id="21" name="Shape 16"/>
          <p:cNvSpPr/>
          <p:nvPr/>
        </p:nvSpPr>
        <p:spPr>
          <a:xfrm>
            <a:off x="10104120" y="1527048"/>
            <a:ext cx="1051560" cy="292608"/>
          </a:xfrm>
          <a:prstGeom prst="rect">
            <a:avLst>
              <a:gd name="adj" fmla="val 50000"/>
            </a:avLst>
          </a:prstGeom>
          <a:solidFill>
            <a:srgbClr val="00A896"/>
          </a:solidFill>
          <a:ln/>
        </p:spPr>
      </p:sp>
      <p:sp>
        <p:nvSpPr>
          <p:cNvPr id="22" name="Text 17"/>
          <p:cNvSpPr/>
          <p:nvPr/>
        </p:nvSpPr>
        <p:spPr>
          <a:xfrm>
            <a:off x="10104120" y="1527048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</a:t>
            </a:r>
            <a:endParaRPr lang="en-US" sz="900" dirty="0"/>
          </a:p>
        </p:txBody>
      </p:sp>
      <p:sp>
        <p:nvSpPr>
          <p:cNvPr id="23" name="Text 18"/>
          <p:cNvSpPr/>
          <p:nvPr/>
        </p:nvSpPr>
        <p:spPr>
          <a:xfrm>
            <a:off x="8092440" y="38862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Projection</a:t>
            </a:r>
            <a:endParaRPr lang="en-US" sz="1300" dirty="0"/>
          </a:p>
        </p:txBody>
      </p:sp>
      <p:sp>
        <p:nvSpPr>
          <p:cNvPr id="24" name="Text 19"/>
          <p:cNvSpPr/>
          <p:nvPr/>
        </p:nvSpPr>
        <p:spPr>
          <a:xfrm>
            <a:off x="8092440" y="466344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5.3</a:t>
            </a:r>
            <a:endParaRPr lang="en-US" sz="1000" dirty="0"/>
          </a:p>
        </p:txBody>
      </p:sp>
      <p:sp>
        <p:nvSpPr>
          <p:cNvPr id="25" name="Text 20"/>
          <p:cNvSpPr/>
          <p:nvPr/>
        </p:nvSpPr>
        <p:spPr>
          <a:xfrm>
            <a:off x="8092440" y="4910328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97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Archery↔JavelinThrow confused 7/25 — tracks semantic similarity.</a:t>
            </a:r>
            <a:endParaRPr lang="en-US" sz="970" dirty="0"/>
          </a:p>
        </p:txBody>
      </p:sp>
      <p:sp>
        <p:nvSpPr>
          <p:cNvPr id="26" name="Shape 21"/>
          <p:cNvSpPr/>
          <p:nvPr/>
        </p:nvSpPr>
        <p:spPr>
          <a:xfrm>
            <a:off x="548640" y="5989320"/>
            <a:ext cx="10241280" cy="502920"/>
          </a:xfrm>
          <a:prstGeom prst="rect">
            <a:avLst>
              <a:gd name="adj" fmla="val 10909"/>
            </a:avLst>
          </a:prstGeom>
          <a:solidFill>
            <a:srgbClr val="0F1B3C"/>
          </a:solidFill>
          <a:ln/>
        </p:spPr>
      </p:sp>
      <p:sp>
        <p:nvSpPr>
          <p:cNvPr id="27" name="Text 22"/>
          <p:cNvSpPr/>
          <p:nvPr/>
        </p:nvSpPr>
        <p:spPr>
          <a:xfrm>
            <a:off x="777240" y="5989320"/>
            <a:ext cx="9784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C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Fusion = label leakage.  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Projection = leakage-safe, real, deployable performance.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Deployment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demo — end-to-end inference pipeline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914400" y="1371600"/>
            <a:ext cx="640080" cy="640080"/>
          </a:xfrm>
          <a:prstGeom prst="ellipse">
            <a:avLst/>
          </a:prstGeom>
          <a:solidFill>
            <a:srgbClr val="00A896"/>
          </a:solidFill>
          <a:ln/>
          <a:effectLst>
            <a:outerShdw sx="100000" sy="100000" kx="0" ky="0" algn="bl" rotWithShape="0" blurRad="76200" dist="25400" dir="5400000">
              <a:srgbClr val="10162B">
                <a:alpha val="25000"/>
              </a:srgbClr>
            </a:outerShdw>
          </a:effectLst>
        </p:spPr>
      </p:sp>
      <p:pic>
        <p:nvPicPr>
          <p:cNvPr id="5" name="Image 0" descr="icons/upload_0F1B3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" y="1531620"/>
            <a:ext cx="320040" cy="3200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737360" y="15087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Video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1234440" y="2011680"/>
            <a:ext cx="0" cy="201168"/>
          </a:xfrm>
          <a:prstGeom prst="line">
            <a:avLst/>
          </a:prstGeom>
          <a:noFill/>
          <a:ln w="25400">
            <a:solidFill>
              <a:srgbClr val="5B6B8C"/>
            </a:solidFill>
            <a:prstDash val="solid"/>
            <a:tailEnd type="triangle"/>
          </a:ln>
        </p:spPr>
      </p:sp>
      <p:sp>
        <p:nvSpPr>
          <p:cNvPr id="8" name="Shape 5"/>
          <p:cNvSpPr/>
          <p:nvPr/>
        </p:nvSpPr>
        <p:spPr>
          <a:xfrm>
            <a:off x="914400" y="2212848"/>
            <a:ext cx="640080" cy="640080"/>
          </a:xfrm>
          <a:prstGeom prst="ellipse">
            <a:avLst/>
          </a:prstGeom>
          <a:solidFill>
            <a:srgbClr val="F2C14E"/>
          </a:solidFill>
          <a:ln/>
          <a:effectLst>
            <a:outerShdw sx="100000" sy="100000" kx="0" ky="0" algn="bl" rotWithShape="0" blurRad="76200" dist="25400" dir="5400000">
              <a:srgbClr val="10162B">
                <a:alpha val="25000"/>
              </a:srgbClr>
            </a:outerShdw>
          </a:effectLst>
        </p:spPr>
      </p:sp>
      <p:pic>
        <p:nvPicPr>
          <p:cNvPr id="9" name="Image 1" descr="icons/cut_0F1B3C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4420" y="2372868"/>
            <a:ext cx="320040" cy="32004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737360" y="235000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Frames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1234440" y="2852928"/>
            <a:ext cx="0" cy="201168"/>
          </a:xfrm>
          <a:prstGeom prst="line">
            <a:avLst/>
          </a:prstGeom>
          <a:noFill/>
          <a:ln w="25400">
            <a:solidFill>
              <a:srgbClr val="5B6B8C"/>
            </a:solidFill>
            <a:prstDash val="solid"/>
            <a:tailEnd type="triangle"/>
          </a:ln>
        </p:spPr>
      </p:sp>
      <p:sp>
        <p:nvSpPr>
          <p:cNvPr id="12" name="Shape 8"/>
          <p:cNvSpPr/>
          <p:nvPr/>
        </p:nvSpPr>
        <p:spPr>
          <a:xfrm>
            <a:off x="914400" y="3054096"/>
            <a:ext cx="640080" cy="640080"/>
          </a:xfrm>
          <a:prstGeom prst="ellipse">
            <a:avLst/>
          </a:prstGeom>
          <a:solidFill>
            <a:srgbClr val="00A896"/>
          </a:solidFill>
          <a:ln/>
          <a:effectLst>
            <a:outerShdw sx="100000" sy="100000" kx="0" ky="0" algn="bl" rotWithShape="0" blurRad="76200" dist="25400" dir="5400000">
              <a:srgbClr val="10162B">
                <a:alpha val="25000"/>
              </a:srgbClr>
            </a:outerShdw>
          </a:effectLst>
        </p:spPr>
      </p:sp>
      <p:pic>
        <p:nvPicPr>
          <p:cNvPr id="13" name="Image 2" descr="icons/bullseye_0F1B3C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4420" y="3214116"/>
            <a:ext cx="320040" cy="32004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737360" y="3191256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Action</a:t>
            </a:r>
            <a:endParaRPr lang="en-US" sz="1300" dirty="0"/>
          </a:p>
        </p:txBody>
      </p:sp>
      <p:sp>
        <p:nvSpPr>
          <p:cNvPr id="15" name="Shape 10"/>
          <p:cNvSpPr/>
          <p:nvPr/>
        </p:nvSpPr>
        <p:spPr>
          <a:xfrm>
            <a:off x="1234440" y="3694176"/>
            <a:ext cx="0" cy="201168"/>
          </a:xfrm>
          <a:prstGeom prst="line">
            <a:avLst/>
          </a:prstGeom>
          <a:noFill/>
          <a:ln w="25400">
            <a:solidFill>
              <a:srgbClr val="5B6B8C"/>
            </a:solidFill>
            <a:prstDash val="solid"/>
            <a:tailEnd type="triangle"/>
          </a:ln>
        </p:spPr>
      </p:sp>
      <p:sp>
        <p:nvSpPr>
          <p:cNvPr id="16" name="Shape 11"/>
          <p:cNvSpPr/>
          <p:nvPr/>
        </p:nvSpPr>
        <p:spPr>
          <a:xfrm>
            <a:off x="914400" y="3895344"/>
            <a:ext cx="640080" cy="640080"/>
          </a:xfrm>
          <a:prstGeom prst="ellipse">
            <a:avLst/>
          </a:prstGeom>
          <a:solidFill>
            <a:srgbClr val="F2C14E"/>
          </a:solidFill>
          <a:ln/>
          <a:effectLst>
            <a:outerShdw sx="100000" sy="100000" kx="0" ky="0" algn="bl" rotWithShape="0" blurRad="76200" dist="25400" dir="5400000">
              <a:srgbClr val="10162B">
                <a:alpha val="25000"/>
              </a:srgbClr>
            </a:outerShdw>
          </a:effectLst>
        </p:spPr>
      </p:sp>
      <p:pic>
        <p:nvPicPr>
          <p:cNvPr id="17" name="Image 3" descr="icons/chartline_0F1B3C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4420" y="4055364"/>
            <a:ext cx="320040" cy="32004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737360" y="4032504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</a:t>
            </a:r>
            <a:endParaRPr lang="en-US" sz="1300" dirty="0"/>
          </a:p>
        </p:txBody>
      </p:sp>
      <p:sp>
        <p:nvSpPr>
          <p:cNvPr id="19" name="Shape 13"/>
          <p:cNvSpPr/>
          <p:nvPr/>
        </p:nvSpPr>
        <p:spPr>
          <a:xfrm>
            <a:off x="1234440" y="4535424"/>
            <a:ext cx="0" cy="201168"/>
          </a:xfrm>
          <a:prstGeom prst="line">
            <a:avLst/>
          </a:prstGeom>
          <a:noFill/>
          <a:ln w="25400">
            <a:solidFill>
              <a:srgbClr val="5B6B8C"/>
            </a:solidFill>
            <a:prstDash val="solid"/>
            <a:tailEnd type="triangle"/>
          </a:ln>
        </p:spPr>
      </p:sp>
      <p:sp>
        <p:nvSpPr>
          <p:cNvPr id="20" name="Shape 14"/>
          <p:cNvSpPr/>
          <p:nvPr/>
        </p:nvSpPr>
        <p:spPr>
          <a:xfrm>
            <a:off x="914400" y="4736592"/>
            <a:ext cx="640080" cy="640080"/>
          </a:xfrm>
          <a:prstGeom prst="ellipse">
            <a:avLst/>
          </a:prstGeom>
          <a:solidFill>
            <a:srgbClr val="00A896"/>
          </a:solidFill>
          <a:ln/>
          <a:effectLst>
            <a:outerShdw sx="100000" sy="100000" kx="0" ky="0" algn="bl" rotWithShape="0" blurRad="76200" dist="25400" dir="5400000">
              <a:srgbClr val="10162B">
                <a:alpha val="25000"/>
              </a:srgbClr>
            </a:outerShdw>
          </a:effectLst>
        </p:spPr>
      </p:sp>
      <p:pic>
        <p:nvPicPr>
          <p:cNvPr id="21" name="Image 4" descr="icons/bookopen_0F1B3C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4420" y="4896612"/>
            <a:ext cx="320040" cy="32004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737360" y="487375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Explainability Report</a:t>
            </a:r>
            <a:endParaRPr lang="en-US" sz="1300" dirty="0"/>
          </a:p>
        </p:txBody>
      </p:sp>
      <p:sp>
        <p:nvSpPr>
          <p:cNvPr id="23" name="Shape 16"/>
          <p:cNvSpPr/>
          <p:nvPr/>
        </p:nvSpPr>
        <p:spPr>
          <a:xfrm>
            <a:off x="4846320" y="1508760"/>
            <a:ext cx="6812280" cy="4709160"/>
          </a:xfrm>
          <a:prstGeom prst="rect">
            <a:avLst>
              <a:gd name="adj" fmla="val 1553"/>
            </a:avLst>
          </a:prstGeom>
          <a:solidFill>
            <a:srgbClr val="FFFFFF"/>
          </a:solidFill>
          <a:ln w="12700">
            <a:solidFill>
              <a:srgbClr val="C7D1E8"/>
            </a:solidFill>
            <a:prstDash val="solid"/>
          </a:ln>
          <a:effectLst>
            <a:outerShdw sx="100000" sy="100000" kx="0" ky="0" algn="bl" rotWithShape="0" blurRad="101600" dist="25400" dir="5400000">
              <a:srgbClr val="A9B6D6">
                <a:alpha val="30000"/>
              </a:srgbClr>
            </a:outerShdw>
          </a:effectLst>
        </p:spPr>
      </p:sp>
      <p:sp>
        <p:nvSpPr>
          <p:cNvPr id="24" name="Shape 17"/>
          <p:cNvSpPr/>
          <p:nvPr/>
        </p:nvSpPr>
        <p:spPr>
          <a:xfrm>
            <a:off x="4846320" y="1508760"/>
            <a:ext cx="6812280" cy="502920"/>
          </a:xfrm>
          <a:prstGeom prst="rect">
            <a:avLst/>
          </a:prstGeom>
          <a:solidFill>
            <a:srgbClr val="0F1B3C"/>
          </a:solidFill>
          <a:ln/>
        </p:spPr>
      </p:sp>
      <p:sp>
        <p:nvSpPr>
          <p:cNvPr id="25" name="Text 18"/>
          <p:cNvSpPr/>
          <p:nvPr/>
        </p:nvSpPr>
        <p:spPr>
          <a:xfrm>
            <a:off x="5074920" y="1508760"/>
            <a:ext cx="6355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Prompt-Guided Human Action Recognition — Streamlit App</a:t>
            </a:r>
            <a:endParaRPr lang="en-US" sz="1150" dirty="0"/>
          </a:p>
        </p:txBody>
      </p:sp>
      <p:sp>
        <p:nvSpPr>
          <p:cNvPr id="26" name="Shape 19"/>
          <p:cNvSpPr/>
          <p:nvPr/>
        </p:nvSpPr>
        <p:spPr>
          <a:xfrm>
            <a:off x="5120640" y="2194560"/>
            <a:ext cx="6263640" cy="502920"/>
          </a:xfrm>
          <a:prstGeom prst="rect">
            <a:avLst>
              <a:gd name="adj" fmla="val 10909"/>
            </a:avLst>
          </a:prstGeom>
          <a:solidFill>
            <a:srgbClr val="F3F6FB"/>
          </a:solidFill>
          <a:ln w="12700">
            <a:solidFill>
              <a:srgbClr val="DCE3F0"/>
            </a:solidFill>
            <a:prstDash val="solid"/>
          </a:ln>
        </p:spPr>
      </p:sp>
      <p:sp>
        <p:nvSpPr>
          <p:cNvPr id="27" name="Text 20"/>
          <p:cNvSpPr/>
          <p:nvPr/>
        </p:nvSpPr>
        <p:spPr>
          <a:xfrm>
            <a:off x="5303520" y="2194560"/>
            <a:ext cx="5897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⬆  Upload Video     [ Choose File ]</a:t>
            </a:r>
            <a:endParaRPr lang="en-US" sz="1100" dirty="0"/>
          </a:p>
        </p:txBody>
      </p:sp>
      <p:sp>
        <p:nvSpPr>
          <p:cNvPr id="28" name="Text 21"/>
          <p:cNvSpPr/>
          <p:nvPr/>
        </p:nvSpPr>
        <p:spPr>
          <a:xfrm>
            <a:off x="5120640" y="2880360"/>
            <a:ext cx="6263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F1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REPRESENTATIVE EXAMPLE OUTPUT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5120640" y="3200400"/>
            <a:ext cx="6263640" cy="2331720"/>
          </a:xfrm>
          <a:prstGeom prst="rect">
            <a:avLst>
              <a:gd name="adj" fmla="val 2353"/>
            </a:avLst>
          </a:prstGeom>
          <a:solidFill>
            <a:srgbClr val="F3F6FB"/>
          </a:solidFill>
          <a:ln/>
        </p:spPr>
      </p:sp>
      <p:sp>
        <p:nvSpPr>
          <p:cNvPr id="30" name="Text 23"/>
          <p:cNvSpPr/>
          <p:nvPr/>
        </p:nvSpPr>
        <p:spPr>
          <a:xfrm>
            <a:off x="5349240" y="3355848"/>
            <a:ext cx="5806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Prediction:  PlayingGuitar</a:t>
            </a:r>
            <a:endParaRPr lang="en-US" sz="1400" dirty="0"/>
          </a:p>
        </p:txBody>
      </p:sp>
      <p:sp>
        <p:nvSpPr>
          <p:cNvPr id="31" name="Text 24"/>
          <p:cNvSpPr/>
          <p:nvPr/>
        </p:nvSpPr>
        <p:spPr>
          <a:xfrm>
            <a:off x="5349240" y="3721608"/>
            <a:ext cx="5806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Similarity: </a:t>
            </a:r>
            <a:pPr indent="0" marL="0">
              <a:buNone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0.5142</a:t>
            </a:r>
            <a:pPr indent="0" marL="0">
              <a:buNone/>
            </a:pPr>
            <a:r>
              <a:rPr lang="en-US" sz="11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Confidence: </a:t>
            </a:r>
            <a:pPr indent="0" marL="0">
              <a:buNone/>
            </a:pPr>
            <a:r>
              <a:rPr lang="en-US" sz="1150" b="1" dirty="0">
                <a:solidFill>
                  <a:srgbClr val="F2C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</a:t>
            </a:r>
            <a:endParaRPr lang="en-US" sz="1150" dirty="0"/>
          </a:p>
        </p:txBody>
      </p:sp>
      <p:sp>
        <p:nvSpPr>
          <p:cNvPr id="32" name="Text 25"/>
          <p:cNvSpPr/>
          <p:nvPr/>
        </p:nvSpPr>
        <p:spPr>
          <a:xfrm>
            <a:off x="5349240" y="4069080"/>
            <a:ext cx="5806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Representative description: "A person holds a guitar and strums the strings."</a:t>
            </a:r>
            <a:endParaRPr lang="en-US" sz="1050" dirty="0"/>
          </a:p>
        </p:txBody>
      </p:sp>
      <p:sp>
        <p:nvSpPr>
          <p:cNvPr id="33" name="Text 26"/>
          <p:cNvSpPr/>
          <p:nvPr/>
        </p:nvSpPr>
        <p:spPr>
          <a:xfrm>
            <a:off x="5349240" y="4453128"/>
            <a:ext cx="5806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Predictions:   1. PlayingGuitar    2. Drumming    3. RopeClimbing</a:t>
            </a:r>
            <a:endParaRPr lang="en-US" sz="1100" dirty="0"/>
          </a:p>
        </p:txBody>
      </p:sp>
      <p:sp>
        <p:nvSpPr>
          <p:cNvPr id="34" name="Text 27"/>
          <p:cNvSpPr/>
          <p:nvPr/>
        </p:nvSpPr>
        <p:spPr>
          <a:xfrm>
            <a:off x="5349240" y="4782312"/>
            <a:ext cx="5806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8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Explanation: the projected semantic representation was most similar to the PlayingGuitar class embedding. Reliability note: these are cosine similarities, not calibrated probabilities.</a:t>
            </a:r>
            <a:endParaRPr lang="en-US" sz="980" dirty="0"/>
          </a:p>
        </p:txBody>
      </p:sp>
      <p:sp>
        <p:nvSpPr>
          <p:cNvPr id="35" name="Text 28"/>
          <p:cNvSpPr/>
          <p:nvPr/>
        </p:nvSpPr>
        <p:spPr>
          <a:xfrm>
            <a:off x="5120640" y="5852160"/>
            <a:ext cx="6263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Mock-up of report Section 6.6 — replace with a live screenshot when available.</a:t>
            </a:r>
            <a:endParaRPr lang="en-US" sz="900" dirty="0"/>
          </a:p>
        </p:txBody>
      </p:sp>
      <p:sp>
        <p:nvSpPr>
          <p:cNvPr id="36" name="Text 29"/>
          <p:cNvSpPr/>
          <p:nvPr/>
        </p:nvSpPr>
        <p:spPr>
          <a:xfrm>
            <a:off x="457200" y="649224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Prompt-Guided Human Action Recognition using Vision-Language Fusion</a:t>
            </a:r>
            <a:endParaRPr lang="en-US" sz="900" dirty="0"/>
          </a:p>
        </p:txBody>
      </p:sp>
      <p:sp>
        <p:nvSpPr>
          <p:cNvPr id="37" name="Text 30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Challenges &amp; Future Work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212080" cy="4846320"/>
          </a:xfrm>
          <a:prstGeom prst="rect">
            <a:avLst>
              <a:gd name="adj" fmla="val 1887"/>
            </a:avLst>
          </a:prstGeom>
          <a:solidFill>
            <a:srgbClr val="F3F6FB"/>
          </a:solidFill>
          <a:ln/>
        </p:spPr>
      </p:sp>
      <p:sp>
        <p:nvSpPr>
          <p:cNvPr id="4" name="Shape 2"/>
          <p:cNvSpPr/>
          <p:nvPr/>
        </p:nvSpPr>
        <p:spPr>
          <a:xfrm>
            <a:off x="937260" y="1577340"/>
            <a:ext cx="594360" cy="594360"/>
          </a:xfrm>
          <a:prstGeom prst="ellipse">
            <a:avLst/>
          </a:prstGeom>
          <a:solidFill>
            <a:srgbClr val="F2C14E"/>
          </a:solidFill>
          <a:ln/>
          <a:effectLst>
            <a:outerShdw sx="100000" sy="100000" kx="0" ky="0" algn="bl" rotWithShape="0" blurRad="76200" dist="25400" dir="5400000">
              <a:srgbClr val="10162B">
                <a:alpha val="25000"/>
              </a:srgbClr>
            </a:outerShdw>
          </a:effectLst>
        </p:spPr>
      </p:sp>
      <p:pic>
        <p:nvPicPr>
          <p:cNvPr id="5" name="Image 0" descr="icons/warning_0F1B3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5850" y="1725930"/>
            <a:ext cx="297180" cy="2971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91640" y="160020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100" kern="0" dirty="0">
                <a:solidFill>
                  <a:srgbClr val="0F1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868680" y="2523744"/>
            <a:ext cx="109728" cy="109728"/>
          </a:xfrm>
          <a:prstGeom prst="ellipse">
            <a:avLst/>
          </a:prstGeom>
          <a:solidFill>
            <a:srgbClr val="F2C14E"/>
          </a:solidFill>
          <a:ln/>
        </p:spPr>
      </p:sp>
      <p:sp>
        <p:nvSpPr>
          <p:cNvPr id="8" name="Text 5"/>
          <p:cNvSpPr/>
          <p:nvPr/>
        </p:nvSpPr>
        <p:spPr>
          <a:xfrm>
            <a:off x="1143000" y="2377440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CPU-only training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868680" y="3182112"/>
            <a:ext cx="109728" cy="109728"/>
          </a:xfrm>
          <a:prstGeom prst="ellipse">
            <a:avLst/>
          </a:prstGeom>
          <a:solidFill>
            <a:srgbClr val="F2C14E"/>
          </a:solidFill>
          <a:ln/>
        </p:spPr>
      </p:sp>
      <p:sp>
        <p:nvSpPr>
          <p:cNvPr id="10" name="Text 7"/>
          <p:cNvSpPr/>
          <p:nvPr/>
        </p:nvSpPr>
        <p:spPr>
          <a:xfrm>
            <a:off x="1143000" y="3035808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dataset size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868680" y="3840480"/>
            <a:ext cx="109728" cy="109728"/>
          </a:xfrm>
          <a:prstGeom prst="ellipse">
            <a:avLst/>
          </a:prstGeom>
          <a:solidFill>
            <a:srgbClr val="F2C14E"/>
          </a:solidFill>
          <a:ln/>
        </p:spPr>
      </p:sp>
      <p:sp>
        <p:nvSpPr>
          <p:cNvPr id="12" name="Text 9"/>
          <p:cNvSpPr/>
          <p:nvPr/>
        </p:nvSpPr>
        <p:spPr>
          <a:xfrm>
            <a:off x="1143000" y="3694176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projection complexity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6035040" y="1371600"/>
            <a:ext cx="5623560" cy="4846320"/>
          </a:xfrm>
          <a:prstGeom prst="rect">
            <a:avLst>
              <a:gd name="adj" fmla="val 1887"/>
            </a:avLst>
          </a:prstGeom>
          <a:solidFill>
            <a:srgbClr val="0F1B3C"/>
          </a:solidFill>
          <a:ln/>
        </p:spPr>
      </p:sp>
      <p:sp>
        <p:nvSpPr>
          <p:cNvPr id="14" name="Shape 11"/>
          <p:cNvSpPr/>
          <p:nvPr/>
        </p:nvSpPr>
        <p:spPr>
          <a:xfrm>
            <a:off x="6423660" y="1577340"/>
            <a:ext cx="594360" cy="594360"/>
          </a:xfrm>
          <a:prstGeom prst="ellipse">
            <a:avLst/>
          </a:prstGeom>
          <a:solidFill>
            <a:srgbClr val="00A896"/>
          </a:solidFill>
          <a:ln/>
          <a:effectLst>
            <a:outerShdw sx="100000" sy="100000" kx="0" ky="0" algn="bl" rotWithShape="0" blurRad="76200" dist="25400" dir="5400000">
              <a:srgbClr val="10162B">
                <a:alpha val="25000"/>
              </a:srgbClr>
            </a:outerShdw>
          </a:effectLst>
        </p:spPr>
      </p:sp>
      <p:pic>
        <p:nvPicPr>
          <p:cNvPr id="15" name="Image 1" descr="icons/bulb_0F1B3C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2250" y="1725930"/>
            <a:ext cx="297180" cy="29718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7178040" y="160020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</a:t>
            </a:r>
            <a:endParaRPr lang="en-US" sz="1600" dirty="0"/>
          </a:p>
        </p:txBody>
      </p:sp>
      <p:sp>
        <p:nvSpPr>
          <p:cNvPr id="17" name="Shape 13"/>
          <p:cNvSpPr/>
          <p:nvPr/>
        </p:nvSpPr>
        <p:spPr>
          <a:xfrm>
            <a:off x="6355080" y="2487168"/>
            <a:ext cx="109728" cy="10972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8" name="Text 14"/>
          <p:cNvSpPr/>
          <p:nvPr/>
        </p:nvSpPr>
        <p:spPr>
          <a:xfrm>
            <a:off x="6629400" y="233172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7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CLIP</a:t>
            </a:r>
            <a:endParaRPr lang="en-US" sz="1400" dirty="0"/>
          </a:p>
        </p:txBody>
      </p:sp>
      <p:sp>
        <p:nvSpPr>
          <p:cNvPr id="19" name="Shape 15"/>
          <p:cNvSpPr/>
          <p:nvPr/>
        </p:nvSpPr>
        <p:spPr>
          <a:xfrm>
            <a:off x="6355080" y="3035808"/>
            <a:ext cx="109728" cy="10972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0" name="Text 16"/>
          <p:cNvSpPr/>
          <p:nvPr/>
        </p:nvSpPr>
        <p:spPr>
          <a:xfrm>
            <a:off x="6629400" y="288036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7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Swin Transformer</a:t>
            </a:r>
            <a:endParaRPr lang="en-US" sz="1400" dirty="0"/>
          </a:p>
        </p:txBody>
      </p:sp>
      <p:sp>
        <p:nvSpPr>
          <p:cNvPr id="21" name="Shape 17"/>
          <p:cNvSpPr/>
          <p:nvPr/>
        </p:nvSpPr>
        <p:spPr>
          <a:xfrm>
            <a:off x="6355080" y="3584448"/>
            <a:ext cx="109728" cy="10972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2" name="Text 18"/>
          <p:cNvSpPr/>
          <p:nvPr/>
        </p:nvSpPr>
        <p:spPr>
          <a:xfrm>
            <a:off x="6629400" y="342900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7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Transformers</a:t>
            </a:r>
            <a:endParaRPr lang="en-US" sz="1400" dirty="0"/>
          </a:p>
        </p:txBody>
      </p:sp>
      <p:sp>
        <p:nvSpPr>
          <p:cNvPr id="23" name="Shape 19"/>
          <p:cNvSpPr/>
          <p:nvPr/>
        </p:nvSpPr>
        <p:spPr>
          <a:xfrm>
            <a:off x="6355080" y="4133088"/>
            <a:ext cx="109728" cy="10972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4" name="Text 20"/>
          <p:cNvSpPr/>
          <p:nvPr/>
        </p:nvSpPr>
        <p:spPr>
          <a:xfrm>
            <a:off x="6629400" y="397764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7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inference</a:t>
            </a:r>
            <a:endParaRPr lang="en-US" sz="1400" dirty="0"/>
          </a:p>
        </p:txBody>
      </p:sp>
      <p:sp>
        <p:nvSpPr>
          <p:cNvPr id="25" name="Shape 21"/>
          <p:cNvSpPr/>
          <p:nvPr/>
        </p:nvSpPr>
        <p:spPr>
          <a:xfrm>
            <a:off x="6355080" y="4681728"/>
            <a:ext cx="109728" cy="10972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6" name="Text 22"/>
          <p:cNvSpPr/>
          <p:nvPr/>
        </p:nvSpPr>
        <p:spPr>
          <a:xfrm>
            <a:off x="6629400" y="452628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7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deployment</a:t>
            </a:r>
            <a:endParaRPr lang="en-US" sz="1400" dirty="0"/>
          </a:p>
        </p:txBody>
      </p:sp>
      <p:sp>
        <p:nvSpPr>
          <p:cNvPr id="27" name="Text 23"/>
          <p:cNvSpPr/>
          <p:nvPr/>
        </p:nvSpPr>
        <p:spPr>
          <a:xfrm>
            <a:off x="457200" y="649224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Prompt-Guided Human Action Recognition using Vision-Language Fusion</a:t>
            </a:r>
            <a:endParaRPr lang="en-US" sz="900" dirty="0"/>
          </a:p>
        </p:txBody>
      </p:sp>
      <p:sp>
        <p:nvSpPr>
          <p:cNvPr id="28" name="Text 24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B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-1645920"/>
            <a:ext cx="4572000" cy="457200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4206240"/>
            <a:ext cx="4206240" cy="420624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00100" y="1531620"/>
            <a:ext cx="685800" cy="685800"/>
          </a:xfrm>
          <a:prstGeom prst="ellipse">
            <a:avLst/>
          </a:prstGeom>
          <a:solidFill>
            <a:srgbClr val="F2C14E"/>
          </a:solidFill>
          <a:ln/>
          <a:effectLst>
            <a:outerShdw sx="100000" sy="100000" kx="0" ky="0" algn="bl" rotWithShape="0" blurRad="76200" dist="25400" dir="5400000">
              <a:srgbClr val="10162B">
                <a:alpha val="25000"/>
              </a:srgbClr>
            </a:outerShdw>
          </a:effectLst>
        </p:spPr>
      </p:sp>
      <p:pic>
        <p:nvPicPr>
          <p:cNvPr id="6" name="Image 0" descr="icons/trophy_0F1B3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550" y="1703070"/>
            <a:ext cx="342900" cy="3429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2377440"/>
            <a:ext cx="3429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Contributions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85800" y="3081528"/>
            <a:ext cx="82296" cy="8229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9" name="Text 6"/>
          <p:cNvSpPr/>
          <p:nvPr/>
        </p:nvSpPr>
        <p:spPr>
          <a:xfrm>
            <a:off x="896112" y="2944368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9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vision-language action recognition pipeline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685800" y="3831336"/>
            <a:ext cx="82296" cy="8229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1" name="Text 8"/>
          <p:cNvSpPr/>
          <p:nvPr/>
        </p:nvSpPr>
        <p:spPr>
          <a:xfrm>
            <a:off x="896112" y="3694176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9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Rigorous, leakage-aware evaluation methodology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685800" y="4581144"/>
            <a:ext cx="82296" cy="8229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3" name="Text 10"/>
          <p:cNvSpPr/>
          <p:nvPr/>
        </p:nvSpPr>
        <p:spPr>
          <a:xfrm>
            <a:off x="896112" y="4443984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9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Explainable, deployed Streamlit inference demo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4457700" y="1531620"/>
            <a:ext cx="685800" cy="685800"/>
          </a:xfrm>
          <a:prstGeom prst="ellipse">
            <a:avLst/>
          </a:prstGeom>
          <a:solidFill>
            <a:srgbClr val="F2C14E"/>
          </a:solidFill>
          <a:ln/>
          <a:effectLst>
            <a:outerShdw sx="100000" sy="100000" kx="0" ky="0" algn="bl" rotWithShape="0" blurRad="76200" dist="25400" dir="5400000">
              <a:srgbClr val="10162B">
                <a:alpha val="25000"/>
              </a:srgbClr>
            </a:outerShdw>
          </a:effectLst>
        </p:spPr>
      </p:sp>
      <p:pic>
        <p:nvPicPr>
          <p:cNvPr id="15" name="Image 1" descr="icons/brain_0F1B3C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9150" y="1703070"/>
            <a:ext cx="342900" cy="34290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297680" y="2377440"/>
            <a:ext cx="3429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Lessons Learned</a:t>
            </a:r>
            <a:endParaRPr lang="en-US" sz="1400" dirty="0"/>
          </a:p>
        </p:txBody>
      </p:sp>
      <p:sp>
        <p:nvSpPr>
          <p:cNvPr id="17" name="Shape 13"/>
          <p:cNvSpPr/>
          <p:nvPr/>
        </p:nvSpPr>
        <p:spPr>
          <a:xfrm>
            <a:off x="4343400" y="3081528"/>
            <a:ext cx="82296" cy="8229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8" name="Text 14"/>
          <p:cNvSpPr/>
          <p:nvPr/>
        </p:nvSpPr>
        <p:spPr>
          <a:xfrm>
            <a:off x="4553712" y="2944368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9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Perfect scores demand scrutiny, not celebration</a:t>
            </a:r>
            <a:endParaRPr lang="en-US" sz="1050" dirty="0"/>
          </a:p>
        </p:txBody>
      </p:sp>
      <p:sp>
        <p:nvSpPr>
          <p:cNvPr id="19" name="Shape 15"/>
          <p:cNvSpPr/>
          <p:nvPr/>
        </p:nvSpPr>
        <p:spPr>
          <a:xfrm>
            <a:off x="4343400" y="3831336"/>
            <a:ext cx="82296" cy="8229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0" name="Text 16"/>
          <p:cNvSpPr/>
          <p:nvPr/>
        </p:nvSpPr>
        <p:spPr>
          <a:xfrm>
            <a:off x="4553712" y="3694176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9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embeddings add real value beyond pixels</a:t>
            </a:r>
            <a:endParaRPr lang="en-US" sz="1050" dirty="0"/>
          </a:p>
        </p:txBody>
      </p:sp>
      <p:sp>
        <p:nvSpPr>
          <p:cNvPr id="21" name="Shape 17"/>
          <p:cNvSpPr/>
          <p:nvPr/>
        </p:nvSpPr>
        <p:spPr>
          <a:xfrm>
            <a:off x="4343400" y="4581144"/>
            <a:ext cx="82296" cy="8229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2" name="Text 18"/>
          <p:cNvSpPr/>
          <p:nvPr/>
        </p:nvSpPr>
        <p:spPr>
          <a:xfrm>
            <a:off x="4553712" y="4443984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9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constraints shape architecture choices</a:t>
            </a:r>
            <a:endParaRPr lang="en-US" sz="1050" dirty="0"/>
          </a:p>
        </p:txBody>
      </p:sp>
      <p:sp>
        <p:nvSpPr>
          <p:cNvPr id="23" name="Shape 19"/>
          <p:cNvSpPr/>
          <p:nvPr/>
        </p:nvSpPr>
        <p:spPr>
          <a:xfrm>
            <a:off x="8115300" y="1531620"/>
            <a:ext cx="685800" cy="685800"/>
          </a:xfrm>
          <a:prstGeom prst="ellipse">
            <a:avLst/>
          </a:prstGeom>
          <a:solidFill>
            <a:srgbClr val="F2C14E"/>
          </a:solidFill>
          <a:ln/>
          <a:effectLst>
            <a:outerShdw sx="100000" sy="100000" kx="0" ky="0" algn="bl" rotWithShape="0" blurRad="76200" dist="25400" dir="5400000">
              <a:srgbClr val="10162B">
                <a:alpha val="25000"/>
              </a:srgbClr>
            </a:outerShdw>
          </a:effectLst>
        </p:spPr>
      </p:sp>
      <p:pic>
        <p:nvPicPr>
          <p:cNvPr id="24" name="Image 2" descr="icons/flask_0F1B3C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6750" y="1703070"/>
            <a:ext cx="342900" cy="342900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7955280" y="2377440"/>
            <a:ext cx="3429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Outcome</a:t>
            </a:r>
            <a:endParaRPr lang="en-US" sz="1400" dirty="0"/>
          </a:p>
        </p:txBody>
      </p:sp>
      <p:sp>
        <p:nvSpPr>
          <p:cNvPr id="26" name="Shape 21"/>
          <p:cNvSpPr/>
          <p:nvPr/>
        </p:nvSpPr>
        <p:spPr>
          <a:xfrm>
            <a:off x="8001000" y="3081528"/>
            <a:ext cx="82296" cy="8229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7" name="Text 22"/>
          <p:cNvSpPr/>
          <p:nvPr/>
        </p:nvSpPr>
        <p:spPr>
          <a:xfrm>
            <a:off x="8211312" y="2944368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9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realistic, leakage-safe fusion model at 87.82% accuracy</a:t>
            </a:r>
            <a:endParaRPr lang="en-US" sz="1050" dirty="0"/>
          </a:p>
        </p:txBody>
      </p:sp>
      <p:sp>
        <p:nvSpPr>
          <p:cNvPr id="28" name="Shape 23"/>
          <p:cNvSpPr/>
          <p:nvPr/>
        </p:nvSpPr>
        <p:spPr>
          <a:xfrm>
            <a:off x="8001000" y="3831336"/>
            <a:ext cx="82296" cy="8229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9" name="Text 24"/>
          <p:cNvSpPr/>
          <p:nvPr/>
        </p:nvSpPr>
        <p:spPr>
          <a:xfrm>
            <a:off x="8211312" y="3694176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9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clear, honest baseline-vs-fusion comparison</a:t>
            </a:r>
            <a:endParaRPr lang="en-US" sz="1050" dirty="0"/>
          </a:p>
        </p:txBody>
      </p:sp>
      <p:sp>
        <p:nvSpPr>
          <p:cNvPr id="30" name="Shape 25"/>
          <p:cNvSpPr/>
          <p:nvPr/>
        </p:nvSpPr>
        <p:spPr>
          <a:xfrm>
            <a:off x="8001000" y="4581144"/>
            <a:ext cx="82296" cy="8229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31" name="Text 26"/>
          <p:cNvSpPr/>
          <p:nvPr/>
        </p:nvSpPr>
        <p:spPr>
          <a:xfrm>
            <a:off x="8211312" y="4443984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9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foundation for future temporal &amp; CLIP-based extensions</a:t>
            </a:r>
            <a:endParaRPr lang="en-US" sz="1050" dirty="0"/>
          </a:p>
        </p:txBody>
      </p:sp>
      <p:sp>
        <p:nvSpPr>
          <p:cNvPr id="32" name="Shape 27"/>
          <p:cNvSpPr/>
          <p:nvPr/>
        </p:nvSpPr>
        <p:spPr>
          <a:xfrm>
            <a:off x="640080" y="5623560"/>
            <a:ext cx="10881360" cy="18288"/>
          </a:xfrm>
          <a:prstGeom prst="rect">
            <a:avLst/>
          </a:prstGeom>
          <a:solidFill>
            <a:srgbClr val="3A4A72"/>
          </a:solidFill>
          <a:ln/>
        </p:spPr>
      </p:sp>
      <p:sp>
        <p:nvSpPr>
          <p:cNvPr id="33" name="Text 28"/>
          <p:cNvSpPr/>
          <p:nvPr/>
        </p:nvSpPr>
        <p:spPr>
          <a:xfrm>
            <a:off x="640080" y="580644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2C1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2600" dirty="0"/>
          </a:p>
        </p:txBody>
      </p:sp>
      <p:sp>
        <p:nvSpPr>
          <p:cNvPr id="34" name="Text 29"/>
          <p:cNvSpPr/>
          <p:nvPr/>
        </p:nvSpPr>
        <p:spPr>
          <a:xfrm>
            <a:off x="640080" y="63550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9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2026-07-29T20:31:01Z</dcterms:created>
  <dcterms:modified xsi:type="dcterms:W3CDTF">2026-07-29T20:31:01Z</dcterms:modified>
</cp:coreProperties>
</file>