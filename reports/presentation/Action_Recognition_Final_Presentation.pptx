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 — Title &amp; Introduction):</a:t>
            </a:r>
          </a:p>
          <a:p>
            <a:r>
              <a:t>• WHAT TO SAY: Welcome the esteemed members of the examination committee and project guides. My name is [Student Name], and today I am presenting our final project titled 'Semantic Prompt-Guided Human Action Recognition using Vision-Language Fusion'.</a:t>
            </a:r>
          </a:p>
          <a:p>
            <a:r>
              <a:t>• TECHNICAL CONTEXT: This research investigates bridging computer vision (video frames) with natural language processing (action sentence embeddings) to transform traditional black-box action classification into an interpretable, semantic matching system.</a:t>
            </a:r>
          </a:p>
          <a:p>
            <a:r>
              <a:t>• KEY FOCUS: We will walk through the dataset engineering, our dual-branch system architecture, a critical finding regarding label leakage in multimodal fusion, quantitative ablation results, and our deployed explainable Streamlit application.</a:t>
            </a:r>
          </a:p>
          <a:p>
            <a:r>
              <a:t>• TRANSITION: Let us start with the core problem statement, research motivation, and the specific objectives we set out to achieve.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 — Problem &amp; Objectives):</a:t>
            </a:r>
          </a:p>
          <a:p>
            <a:r>
              <a:t>• WHAT TO SAY: In human action recognition, traditional computer vision pipelines classify video clips into integer labels like 'Class 4' or 'Drumming'. However, they function as black boxes with no conceptual understanding of the physical activity.</a:t>
            </a:r>
          </a:p>
          <a:p>
            <a:r>
              <a:t>• WHY IT MATTERS: In real-world applications—such as surveillance, healthcare monitoring, and sports analytics—users need to understand why an action was identified, what alternative actions looked similar, and how certain the model is.</a:t>
            </a:r>
          </a:p>
          <a:p>
            <a:r>
              <a:t>• OBJECTIVES: We structured our work around 4 clear goals: First, recognizing actions from raw video; Second, establishing a rigorous 512-D ResNet18 visual baseline; Third, encoding action descriptions into a 384-D language space with Sentence-BERT; and Fourth, building a leakage-safe fusion projection model with explainable AI.</a:t>
            </a:r>
          </a:p>
          <a:p>
            <a:r>
              <a:t>• TRANSITION: To evaluate this rigorously, we built our dataset foundation on a curated 9-class benchmark from UCF101.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 — Dataset &amp; Preprocessing):</a:t>
            </a:r>
          </a:p>
          <a:p>
            <a:r>
              <a:t>• DATASET SUMMARY: We selected 9 action classes from the well-established UCF101 dataset, encompassing 1,261 total video clips.</a:t>
            </a:r>
          </a:p>
          <a:p>
            <a:r>
              <a:t>• FRAME SAMPLING: For each video, 16 frames were uniformly extracted across the entire time duration and resized to 224x224 RGB, generating exactly 20,176 frames with zero corruptions or unreadable files.</a:t>
            </a:r>
          </a:p>
          <a:p>
            <a:r>
              <a:t>• CRITICAL METHODOLOGY (GROUP-SAFE SPLITTING): A key engineering decision was enforcing Group-Safe partitioning (70% train, 15% val, 15% test). In UCF101, video clips share group IDs like 'g01' or 'g02' which represent the same actor, camera, and background room. By ensuring that all clips from group gXX stay in the same split, we eliminate subject/background leakage between train and test partitions.</a:t>
            </a:r>
          </a:p>
          <a:p>
            <a:r>
              <a:t>• TRANSITION: With this clean data foundation, let us examine the complete system architecture and its dual-branch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 — System Architecture):</a:t>
            </a:r>
          </a:p>
          <a:p>
            <a:r>
              <a:t>• DUAL-BRANCH PARADIGM: Our system is composed of two distinct branches that interface at the inference stage.</a:t>
            </a:r>
          </a:p>
          <a:p>
            <a:r>
              <a:t>• VISUAL BRANCH: An input video's 16 frames are passed through ResNet18 to obtain 512-D frame embeddings, which are temporally averaged into a single 512-D video vector and standardized.</a:t>
            </a:r>
          </a:p>
          <a:p>
            <a:r>
              <a:t>• LANGUAGE BRANCH: In parallel, 45 prompt descriptions (5 per class) are encoded using Sentence-BERT (all-MiniLM-L6-v2) into 384-D vectors, averaged per class, and L2-normalized into canonical class semantic vectors.</a:t>
            </a:r>
          </a:p>
          <a:p>
            <a:r>
              <a:t>• FUSION &amp; INFERENCE: During inference, only the video is supplied. The Semantic Projection Network maps the 512-D visual feature into the 384-D semantic space, where it is matched against all 9 class anchors via cosine similarity.</a:t>
            </a:r>
          </a:p>
          <a:p>
            <a:r>
              <a:t>• TRANSITION: Before looking at fusion, let us evaluate the visual baseline and semantic space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 — Baseline &amp; Semantic Space):</a:t>
            </a:r>
          </a:p>
          <a:p>
            <a:r>
              <a:t>• VISUAL BASELINE PERFORMANCE: The video-only baseline achieved a very strong 93.40% test accuracy (184 of 197 correct) and 92.77% Macro F1.</a:t>
            </a:r>
          </a:p>
          <a:p>
            <a:r>
              <a:t>• ANALYSIS: Actions with distinct objects—like instruments in Guitar and Drums, lanes in Bowling, or keyboards in Typing—reach a perfect 1.0000 F1 score. Confusions occurred primarily between JavelinThrow and Basketball (4 clips) and Archery and Javelin (3 clips) due to similar body poses and raised arms.</a:t>
            </a:r>
          </a:p>
          <a:p>
            <a:r>
              <a:t>• SEMANTIC HEATMAP: On the right, the Sentence-BERT cosine similarity heatmap demonstrates that natural language embeddings capture genuine semantic closeness. Drumming and PlayingGuitar share the highest similarity at 0.5231, while Typing and JavelinThrow are furthest at 0.1454.</a:t>
            </a:r>
          </a:p>
          <a:p>
            <a:r>
              <a:t>• KEY DETAIL: Notice that Archery and JavelinThrow are semantically close (0.4892). This exact semantic closeness will re-appear in our multimodal fusion model.</a:t>
            </a:r>
          </a:p>
          <a:p>
            <a:r>
              <a:t>• TRANSITION: Now let us discuss the critical scientific challenge we uncovered: Label Leakage in naive fusion.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 — Vision-Language Fusion &amp; Label Leakage):</a:t>
            </a:r>
          </a:p>
          <a:p>
            <a:r>
              <a:t>• CRITICAL SCIENTIFIC INSIGHT: In Week 4 of our project, we explored multimodal fusion. A naive early-fusion approach concatenates visual features with text embeddings. When tested, this scored an artificial 100.0% accuracy.</a:t>
            </a:r>
          </a:p>
          <a:p>
            <a:r>
              <a:t>• WHY 100% IS FLAWED: This is an Oracle result caused by Target Label Leakage. By feeding the true action description embedding at test time, the model doesn't recognize video—it just reads the answer from the text.</a:t>
            </a:r>
          </a:p>
          <a:p>
            <a:r>
              <a:t>• THE PROPER SOLUTION: We formulated the Leakage-Safe Semantic Projection architecture. The network maps visual features into the 384-D semantic space without any access to ground-truth labels during inference. It predicts actions by cosine similarity against fixed class anchors.</a:t>
            </a:r>
          </a:p>
          <a:p>
            <a:r>
              <a:t>• TAKEAWAY: Reporting 87.82% honestly is far more valuable and scientifically sound than showcasing an artificial 100% oracle score. Rigorous research requires eliminating leakage completely.</a:t>
            </a:r>
          </a:p>
          <a:p>
            <a:r>
              <a:t>• TRANSITION: Let us examine the full ablation study comparing all these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 — Experimental Results &amp; Ablation):</a:t>
            </a:r>
          </a:p>
          <a:p>
            <a:r>
              <a:t>• WALKTHROUGH: This table summarizes all four experimental setups evaluated on the 197 held-out test videos.</a:t>
            </a:r>
          </a:p>
          <a:p>
            <a:r>
              <a:t>• ORACLE MODELS: Rows 2 and 3 highlight the Text-Only Oracle and Oracle Concatenation reaching 100% accuracy. We clearly label these as non-deployable due to label leakage.</a:t>
            </a:r>
          </a:p>
          <a:p>
            <a:r>
              <a:t>• DEPLOYABLE COMPARISON: Looking at genuine deployable models, the Video-Only baseline achieves 93.40% accuracy and 92.77% Macro F1, while the Leakage-Safe Semantic Projection achieves 87.82% accuracy and 86.39% Macro F1.</a:t>
            </a:r>
          </a:p>
          <a:p>
            <a:r>
              <a:t>• SCIENTIFIC HONESTY: We do not hide the 5.58% accuracy difference. Projecting a 512-D visual feature into a generic 384-D text space naturally compresses visual variance. However, it gains semantic interpretability, prompt guidance, and zero-shot matching.</a:t>
            </a:r>
          </a:p>
          <a:p>
            <a:r>
              <a:t>• TRANSITION: Let us examine how this semantic projection enables real-time Explainable AI on test videos.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 — Explainable AI Case Study):</a:t>
            </a:r>
          </a:p>
          <a:p>
            <a:r>
              <a:t>• QUALITATIVE EVIDENCE: Slide 8 demonstrates our Explainability Engine on a real test video: `v_PlayingGuitar_g10_c01.avi`.</a:t>
            </a:r>
          </a:p>
          <a:p>
            <a:r>
              <a:t>• VISUAL AUDITABILITY: On the left, 16 sampled frames are automatically compiled into a contact sheet, giving users and auditors immediate visual verification of what the model saw.</a:t>
            </a:r>
          </a:p>
          <a:p>
            <a:r>
              <a:t>• XAI REPORT: On the right, the system generates a structured explanation report. PlayingGuitar leads with 0.5230 similarity. The runner-up is Drumming at 0.0511—which aligns with our earlier Sentence-BERT finding that Drumming and Guitar are semantic neighbours.</a:t>
            </a:r>
          </a:p>
          <a:p>
            <a:r>
              <a:t>• SCORE SEPARATION: The score gap is +0.4719, triggering the 'Clear Separation' category and dynamically generating the English explanation text.</a:t>
            </a:r>
          </a:p>
          <a:p>
            <a:r>
              <a:t>• RELIABILITY NOTE: It explicitly informs the user that similarity scores reflect relative directional alignment, avoiding misinterpretation as Bayesian probabilities.</a:t>
            </a:r>
          </a:p>
          <a:p>
            <a:r>
              <a:t>• TRANSITION: All of these capabilities are integrated into our interactive Streamlit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 — Streamlit Application):</a:t>
            </a:r>
          </a:p>
          <a:p>
            <a:r>
              <a:t>• APPLICATION HIGHLIGHT: In Week 6, we brought the entire 6-week research effort into an interactive Streamlit web application (`app/streamlit_app.py`).</a:t>
            </a:r>
          </a:p>
          <a:p>
            <a:r>
              <a:t>• USER EXPERIENCE: Instead of running command-line scripts, a user simply drags and drops any standard video file (.mp4, .avi, .mov). They can customize the Top-K candidate count and frame sampling rate via sidebar sliders.</a:t>
            </a:r>
          </a:p>
          <a:p>
            <a:r>
              <a:t>• BACKEND EXECUTION: The application executes the complete end-to-end pipeline: OpenCV frame sampling, ResNet18 feature extraction, semantic projection, cosine matching against the 9 class embeddings, and the XAI report generation.</a:t>
            </a:r>
          </a:p>
          <a:p>
            <a:r>
              <a:t>• TECH STACK: The implementation is completely modular and reproducible, leveraging PyTorch, Sentence-Transformers, OpenCV, Scikit-learn, and Streamlit.</a:t>
            </a:r>
          </a:p>
          <a:p>
            <a:r>
              <a:t>• TRANSITION: To conclude our presentation, let us review our contributions, limitations, and future research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 — Conclusion &amp; Future Work):</a:t>
            </a:r>
          </a:p>
          <a:p>
            <a:r>
              <a:t>• CONCLUSION: In summary, this project successfully developed an end-to-end, explainable vision-language action recognition system on UCF101.</a:t>
            </a:r>
          </a:p>
          <a:p>
            <a:r>
              <a:t>• KEY RESEARCH CONTRIBUTION: Our most significant contribution is demonstrating that semantic prompt alignment is achievable without compromising scientific integrity. By exposing and eliminating label leakage, we delivered a valid 87.82% deployable model accompanied by human-readable explanations.</a:t>
            </a:r>
          </a:p>
          <a:p>
            <a:r>
              <a:t>• FUTURE DIRECTIONS: The limitations of temporal mean pooling and linear projection pave the way for exciting future extensions with Video Transformers (TimeSformer) and Vision-Language Foundation models (CLIP).</a:t>
            </a:r>
          </a:p>
          <a:p>
            <a:r>
              <a:t>• CLOSING: Thank you for your time and attention. I now welcome any questions, comments, or feedback from the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ounded Rectangle 1"/>
          <p:cNvSpPr/>
          <p:nvPr/>
        </p:nvSpPr>
        <p:spPr>
          <a:xfrm>
            <a:off x="731520" y="731520"/>
            <a:ext cx="4114800" cy="365760"/>
          </a:xfrm>
          <a:prstGeom prst="roundRect">
            <a:avLst/>
          </a:prstGeom>
          <a:solidFill>
            <a:srgbClr val="0F2A4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latin typeface="Segoe UI"/>
              </a:defRPr>
            </a:pPr>
            <a:r>
              <a:t>FINAL PROJECT PRESENTATION / VIVA</a:t>
            </a:r>
          </a:p>
        </p:txBody>
      </p:sp>
      <p:sp>
        <p:nvSpPr>
          <p:cNvPr id="3" name="TextBox 2"/>
          <p:cNvSpPr txBox="1"/>
          <p:nvPr/>
        </p:nvSpPr>
        <p:spPr>
          <a:xfrm>
            <a:off x="731520" y="1280160"/>
            <a:ext cx="10698480" cy="1463040"/>
          </a:xfrm>
          <a:prstGeom prst="rect">
            <a:avLst/>
          </a:prstGeom>
          <a:noFill/>
        </p:spPr>
        <p:txBody>
          <a:bodyPr wrap="square">
            <a:spAutoFit/>
          </a:bodyPr>
          <a:lstStyle/>
          <a:p>
            <a:pPr>
              <a:defRPr sz="3000" b="1">
                <a:solidFill>
                  <a:srgbClr val="FFFFFF"/>
                </a:solidFill>
                <a:latin typeface="Segoe UI"/>
              </a:defRPr>
            </a:pPr>
            <a:r>
              <a:t>Semantic Prompt-Guided Human Action Recognition</a:t>
            </a:r>
          </a:p>
          <a:p>
            <a:pPr>
              <a:defRPr sz="3000" b="1">
                <a:solidFill>
                  <a:srgbClr val="38BDF8"/>
                </a:solidFill>
                <a:latin typeface="Segoe UI"/>
              </a:defRPr>
            </a:pPr>
            <a:r>
              <a:t>using Vision-Language Fusion</a:t>
            </a:r>
          </a:p>
        </p:txBody>
      </p:sp>
      <p:sp>
        <p:nvSpPr>
          <p:cNvPr id="4" name="TextBox 3"/>
          <p:cNvSpPr txBox="1"/>
          <p:nvPr/>
        </p:nvSpPr>
        <p:spPr>
          <a:xfrm>
            <a:off x="731520" y="2834640"/>
            <a:ext cx="10698480" cy="548640"/>
          </a:xfrm>
          <a:prstGeom prst="rect">
            <a:avLst/>
          </a:prstGeom>
          <a:noFill/>
        </p:spPr>
        <p:txBody>
          <a:bodyPr wrap="square">
            <a:spAutoFit/>
          </a:bodyPr>
          <a:lstStyle/>
          <a:p>
            <a:pPr>
              <a:defRPr sz="1500">
                <a:solidFill>
                  <a:srgbClr val="94A3B8"/>
                </a:solidFill>
                <a:latin typeface="Segoe UI"/>
              </a:defRPr>
            </a:pPr>
            <a:r>
              <a:t>A Rigorous Study on Multimodal Feature Alignment, Label Leakage Prevention, and Explainable AI</a:t>
            </a:r>
          </a:p>
        </p:txBody>
      </p:sp>
      <p:sp>
        <p:nvSpPr>
          <p:cNvPr id="5" name="Rounded Rectangle 4"/>
          <p:cNvSpPr/>
          <p:nvPr/>
        </p:nvSpPr>
        <p:spPr>
          <a:xfrm>
            <a:off x="731520" y="3840480"/>
            <a:ext cx="251460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69080"/>
            <a:ext cx="2148840" cy="1828800"/>
          </a:xfrm>
          <a:prstGeom prst="rect">
            <a:avLst/>
          </a:prstGeom>
          <a:noFill/>
        </p:spPr>
        <p:txBody>
          <a:bodyPr wrap="square">
            <a:spAutoFit/>
          </a:bodyPr>
          <a:lstStyle/>
          <a:p>
            <a:pPr>
              <a:defRPr sz="1000" b="1">
                <a:solidFill>
                  <a:srgbClr val="06B6D4"/>
                </a:solidFill>
                <a:latin typeface="Segoe UI"/>
              </a:defRPr>
            </a:pPr>
            <a:r>
              <a:t>STUDENT CANDIDATE</a:t>
            </a:r>
          </a:p>
          <a:p>
            <a:pPr>
              <a:spcBef>
                <a:spcPts val="800"/>
              </a:spcBef>
              <a:defRPr sz="1300" b="1">
                <a:solidFill>
                  <a:srgbClr val="FFFFFF"/>
                </a:solidFill>
                <a:latin typeface="Segoe UI"/>
              </a:defRPr>
            </a:pPr>
            <a:r>
              <a:t>[Student Name]</a:t>
            </a:r>
          </a:p>
          <a:p>
            <a:pPr>
              <a:spcBef>
                <a:spcPts val="600"/>
              </a:spcBef>
              <a:defRPr sz="1100">
                <a:solidFill>
                  <a:srgbClr val="94A3B8"/>
                </a:solidFill>
                <a:latin typeface="Segoe UI"/>
              </a:defRPr>
            </a:pPr>
            <a:r>
              <a:t>[Enrollment / Roll Number]</a:t>
            </a:r>
          </a:p>
        </p:txBody>
      </p:sp>
      <p:sp>
        <p:nvSpPr>
          <p:cNvPr id="7" name="Rounded Rectangle 6"/>
          <p:cNvSpPr/>
          <p:nvPr/>
        </p:nvSpPr>
        <p:spPr>
          <a:xfrm>
            <a:off x="3456432" y="3840480"/>
            <a:ext cx="251460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4069080"/>
            <a:ext cx="2148840" cy="1828800"/>
          </a:xfrm>
          <a:prstGeom prst="rect">
            <a:avLst/>
          </a:prstGeom>
          <a:noFill/>
        </p:spPr>
        <p:txBody>
          <a:bodyPr wrap="square">
            <a:spAutoFit/>
          </a:bodyPr>
          <a:lstStyle/>
          <a:p>
            <a:pPr>
              <a:defRPr sz="1000" b="1">
                <a:solidFill>
                  <a:srgbClr val="06B6D4"/>
                </a:solidFill>
                <a:latin typeface="Segoe UI"/>
              </a:defRPr>
            </a:pPr>
            <a:r>
              <a:t>PROJECT SUPERVISOR</a:t>
            </a:r>
          </a:p>
          <a:p>
            <a:pPr>
              <a:spcBef>
                <a:spcPts val="800"/>
              </a:spcBef>
              <a:defRPr sz="1300" b="1">
                <a:solidFill>
                  <a:srgbClr val="FFFFFF"/>
                </a:solidFill>
                <a:latin typeface="Segoe UI"/>
              </a:defRPr>
            </a:pPr>
            <a:r>
              <a:t>[Guide / Supervisor Name]</a:t>
            </a:r>
          </a:p>
          <a:p>
            <a:pPr>
              <a:spcBef>
                <a:spcPts val="600"/>
              </a:spcBef>
              <a:defRPr sz="1100">
                <a:solidFill>
                  <a:srgbClr val="94A3B8"/>
                </a:solidFill>
                <a:latin typeface="Segoe UI"/>
              </a:defRPr>
            </a:pPr>
            <a:r>
              <a:t>[Designation / Department]</a:t>
            </a:r>
          </a:p>
        </p:txBody>
      </p:sp>
      <p:sp>
        <p:nvSpPr>
          <p:cNvPr id="9" name="Rounded Rectangle 8"/>
          <p:cNvSpPr/>
          <p:nvPr/>
        </p:nvSpPr>
        <p:spPr>
          <a:xfrm>
            <a:off x="6181344" y="3840480"/>
            <a:ext cx="251460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4069080"/>
            <a:ext cx="2148840" cy="1828800"/>
          </a:xfrm>
          <a:prstGeom prst="rect">
            <a:avLst/>
          </a:prstGeom>
          <a:noFill/>
        </p:spPr>
        <p:txBody>
          <a:bodyPr wrap="square">
            <a:spAutoFit/>
          </a:bodyPr>
          <a:lstStyle/>
          <a:p>
            <a:pPr>
              <a:defRPr sz="1000" b="1">
                <a:solidFill>
                  <a:srgbClr val="06B6D4"/>
                </a:solidFill>
                <a:latin typeface="Segoe UI"/>
              </a:defRPr>
            </a:pPr>
            <a:r>
              <a:t>DEPARTMENT &amp; COLLEGE</a:t>
            </a:r>
          </a:p>
          <a:p>
            <a:pPr>
              <a:spcBef>
                <a:spcPts val="800"/>
              </a:spcBef>
              <a:defRPr sz="1300" b="1">
                <a:solidFill>
                  <a:srgbClr val="FFFFFF"/>
                </a:solidFill>
                <a:latin typeface="Segoe UI"/>
              </a:defRPr>
            </a:pPr>
            <a:r>
              <a:t>[Department Name]</a:t>
            </a:r>
          </a:p>
          <a:p>
            <a:pPr>
              <a:spcBef>
                <a:spcPts val="600"/>
              </a:spcBef>
              <a:defRPr sz="1100">
                <a:solidFill>
                  <a:srgbClr val="94A3B8"/>
                </a:solidFill>
                <a:latin typeface="Segoe UI"/>
              </a:defRPr>
            </a:pPr>
            <a:r>
              <a:t>[Institute / University Name]</a:t>
            </a:r>
          </a:p>
        </p:txBody>
      </p:sp>
      <p:sp>
        <p:nvSpPr>
          <p:cNvPr id="11" name="Rounded Rectangle 10"/>
          <p:cNvSpPr/>
          <p:nvPr/>
        </p:nvSpPr>
        <p:spPr>
          <a:xfrm>
            <a:off x="8906256" y="3840480"/>
            <a:ext cx="2514600" cy="2286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4069080"/>
            <a:ext cx="2148840" cy="1828800"/>
          </a:xfrm>
          <a:prstGeom prst="rect">
            <a:avLst/>
          </a:prstGeom>
          <a:noFill/>
        </p:spPr>
        <p:txBody>
          <a:bodyPr wrap="square">
            <a:spAutoFit/>
          </a:bodyPr>
          <a:lstStyle/>
          <a:p>
            <a:pPr>
              <a:defRPr sz="1000" b="1">
                <a:solidFill>
                  <a:srgbClr val="06B6D4"/>
                </a:solidFill>
                <a:latin typeface="Segoe UI"/>
              </a:defRPr>
            </a:pPr>
            <a:r>
              <a:t>ACADEMIC SESSION</a:t>
            </a:r>
          </a:p>
          <a:p>
            <a:pPr>
              <a:spcBef>
                <a:spcPts val="800"/>
              </a:spcBef>
              <a:defRPr sz="1300" b="1">
                <a:solidFill>
                  <a:srgbClr val="FFFFFF"/>
                </a:solidFill>
                <a:latin typeface="Segoe UI"/>
              </a:defRPr>
            </a:pPr>
            <a:r>
              <a:t>Academic Year: 2025–2026</a:t>
            </a:r>
          </a:p>
          <a:p>
            <a:pPr>
              <a:spcBef>
                <a:spcPts val="600"/>
              </a:spcBef>
              <a:defRPr sz="1100">
                <a:solidFill>
                  <a:srgbClr val="94A3B8"/>
                </a:solidFill>
                <a:latin typeface="Segoe UI"/>
              </a:defRPr>
            </a:pPr>
            <a:r>
              <a:t>Machine Learning Project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MOTIVATION &amp; BACKGROUND</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Problem Statement &amp; Project Objectives</a:t>
            </a:r>
          </a:p>
        </p:txBody>
      </p:sp>
      <p:sp>
        <p:nvSpPr>
          <p:cNvPr id="4" name="Rounded Rectangle 3"/>
          <p:cNvSpPr/>
          <p:nvPr/>
        </p:nvSpPr>
        <p:spPr>
          <a:xfrm>
            <a:off x="731520" y="1371600"/>
            <a:ext cx="512064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572000" cy="4389120"/>
          </a:xfrm>
          <a:prstGeom prst="rect">
            <a:avLst/>
          </a:prstGeom>
          <a:noFill/>
        </p:spPr>
        <p:txBody>
          <a:bodyPr wrap="square">
            <a:spAutoFit/>
          </a:bodyPr>
          <a:lstStyle/>
          <a:p>
            <a:pPr>
              <a:defRPr sz="1300" b="1">
                <a:solidFill>
                  <a:srgbClr val="EF4444"/>
                </a:solidFill>
                <a:latin typeface="Segoe UI"/>
              </a:defRPr>
            </a:pPr>
            <a:r>
              <a:t>THE PROBLEM WITH TRADITIONAL HAR</a:t>
            </a:r>
          </a:p>
          <a:p>
            <a:pPr>
              <a:spcBef>
                <a:spcPts val="800"/>
              </a:spcBef>
              <a:defRPr sz="1150">
                <a:solidFill>
                  <a:srgbClr val="E2E8F0"/>
                </a:solidFill>
                <a:latin typeface="Segoe UI"/>
              </a:defRPr>
            </a:pPr>
            <a:r>
              <a:t>• Black-Box Predictions: Standard vision models assign discrete class indices (e.g. Class 4) without semantic awareness of what the action entails.</a:t>
            </a:r>
          </a:p>
          <a:p>
            <a:pPr>
              <a:spcBef>
                <a:spcPts val="600"/>
              </a:spcBef>
              <a:defRPr sz="1150">
                <a:solidFill>
                  <a:srgbClr val="E2E8F0"/>
                </a:solidFill>
                <a:latin typeface="Segoe UI"/>
              </a:defRPr>
            </a:pPr>
            <a:r>
              <a:t>• No Conceptual Reasoning: Vision-only models ignore natural relationships between actions (e.g., PlayingGuitar and Drumming both involve rhythm and musical instruments).</a:t>
            </a:r>
          </a:p>
          <a:p>
            <a:pPr>
              <a:spcBef>
                <a:spcPts val="600"/>
              </a:spcBef>
              <a:defRPr sz="1150">
                <a:solidFill>
                  <a:srgbClr val="E2E8F0"/>
                </a:solidFill>
                <a:latin typeface="Segoe UI"/>
              </a:defRPr>
            </a:pPr>
            <a:r>
              <a:t>• Zero Decision Transparency: Users receive an opaque label with no confidence breakdown, ambiguity measure, or human-readable explanation.</a:t>
            </a:r>
          </a:p>
          <a:p>
            <a:pPr>
              <a:spcBef>
                <a:spcPts val="1400"/>
              </a:spcBef>
              <a:defRPr sz="1300" b="1">
                <a:solidFill>
                  <a:srgbClr val="06B6D4"/>
                </a:solidFill>
                <a:latin typeface="Segoe UI"/>
              </a:defRPr>
            </a:pPr>
            <a:r>
              <a:t>THE VISION-LANGUAGE OPPORTUNITY</a:t>
            </a:r>
          </a:p>
          <a:p>
            <a:pPr>
              <a:spcBef>
                <a:spcPts val="600"/>
              </a:spcBef>
              <a:defRPr sz="1150">
                <a:solidFill>
                  <a:srgbClr val="E2E8F0"/>
                </a:solidFill>
                <a:latin typeface="Segoe UI"/>
              </a:defRPr>
            </a:pPr>
            <a:r>
              <a:t>• By projecting visual features into a continuous semantic text space, actions are classified via semantic proximity, enabling prompt guidance and transparent explainability.</a:t>
            </a:r>
          </a:p>
        </p:txBody>
      </p:sp>
      <p:sp>
        <p:nvSpPr>
          <p:cNvPr id="6" name="Rounded Rectangle 5"/>
          <p:cNvSpPr/>
          <p:nvPr/>
        </p:nvSpPr>
        <p:spPr>
          <a:xfrm>
            <a:off x="6217920" y="1371600"/>
            <a:ext cx="5120640" cy="48463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00200"/>
            <a:ext cx="4572000" cy="4389120"/>
          </a:xfrm>
          <a:prstGeom prst="rect">
            <a:avLst/>
          </a:prstGeom>
          <a:noFill/>
        </p:spPr>
        <p:txBody>
          <a:bodyPr wrap="square">
            <a:spAutoFit/>
          </a:bodyPr>
          <a:lstStyle/>
          <a:p>
            <a:pPr>
              <a:defRPr sz="1300" b="1">
                <a:solidFill>
                  <a:srgbClr val="38BDF8"/>
                </a:solidFill>
                <a:latin typeface="Segoe UI"/>
              </a:defRPr>
            </a:pPr>
            <a:r>
              <a:t>4 CORE PROJECT OBJECTIVES</a:t>
            </a:r>
          </a:p>
          <a:p>
            <a:pPr>
              <a:spcBef>
                <a:spcPts val="800"/>
              </a:spcBef>
              <a:defRPr sz="1150" b="1">
                <a:solidFill>
                  <a:srgbClr val="FFFFFF"/>
                </a:solidFill>
                <a:latin typeface="Segoe UI"/>
              </a:defRPr>
            </a:pPr>
            <a:r>
              <a:t>1. Recognize Actions from Video Streams</a:t>
            </a:r>
          </a:p>
          <a:p>
            <a:pPr>
              <a:spcBef>
                <a:spcPts val="200"/>
              </a:spcBef>
              <a:defRPr sz="1050">
                <a:solidFill>
                  <a:srgbClr val="94A3B8"/>
                </a:solidFill>
                <a:latin typeface="Segoe UI"/>
              </a:defRPr>
            </a:pPr>
            <a:r>
              <a:t>Accurately classify multi-frame human activities from raw video inputs across diverse domains (sports, music, daily tasks).</a:t>
            </a:r>
          </a:p>
          <a:p>
            <a:pPr>
              <a:spcBef>
                <a:spcPts val="800"/>
              </a:spcBef>
              <a:defRPr sz="1150" b="1">
                <a:solidFill>
                  <a:srgbClr val="FFFFFF"/>
                </a:solidFill>
                <a:latin typeface="Segoe UI"/>
              </a:defRPr>
            </a:pPr>
            <a:r>
              <a:t>2. Establish Strong Visual Baseline</a:t>
            </a:r>
          </a:p>
          <a:p>
            <a:pPr>
              <a:spcBef>
                <a:spcPts val="200"/>
              </a:spcBef>
              <a:defRPr sz="1050">
                <a:solidFill>
                  <a:srgbClr val="94A3B8"/>
                </a:solidFill>
                <a:latin typeface="Segoe UI"/>
              </a:defRPr>
            </a:pPr>
            <a:r>
              <a:t>Extract 512-D frame features using pretrained ResNet18, aggregate via mean pooling, and benchmark with Logistic Regression.</a:t>
            </a:r>
          </a:p>
          <a:p>
            <a:pPr>
              <a:spcBef>
                <a:spcPts val="800"/>
              </a:spcBef>
              <a:defRPr sz="1150" b="1">
                <a:solidFill>
                  <a:srgbClr val="FFFFFF"/>
                </a:solidFill>
                <a:latin typeface="Segoe UI"/>
              </a:defRPr>
            </a:pPr>
            <a:r>
              <a:t>3. Model Continuous Semantic Language Space</a:t>
            </a:r>
          </a:p>
          <a:p>
            <a:pPr>
              <a:spcBef>
                <a:spcPts val="200"/>
              </a:spcBef>
              <a:defRPr sz="1050">
                <a:solidFill>
                  <a:srgbClr val="94A3B8"/>
                </a:solidFill>
                <a:latin typeface="Segoe UI"/>
              </a:defRPr>
            </a:pPr>
            <a:r>
              <a:t>Encode rich natural language descriptions into 384-D semantic embeddings using Sentence-BERT (all-MiniLM-L6-v2).</a:t>
            </a:r>
          </a:p>
          <a:p>
            <a:pPr>
              <a:spcBef>
                <a:spcPts val="800"/>
              </a:spcBef>
              <a:defRPr sz="1150" b="1">
                <a:solidFill>
                  <a:srgbClr val="FFFFFF"/>
                </a:solidFill>
                <a:latin typeface="Segoe UI"/>
              </a:defRPr>
            </a:pPr>
            <a:r>
              <a:t>4. Leakage-Safe Multimodal Fusion &amp; XAI</a:t>
            </a:r>
          </a:p>
          <a:p>
            <a:pPr>
              <a:spcBef>
                <a:spcPts val="200"/>
              </a:spcBef>
              <a:defRPr sz="1050">
                <a:solidFill>
                  <a:srgbClr val="94A3B8"/>
                </a:solidFill>
                <a:latin typeface="Segoe UI"/>
              </a:defRPr>
            </a:pPr>
            <a:r>
              <a:t>Develop a valid visual-to-semantic projection network, enforce strict label leakage prevention, and deploy an explainable Streamlit application.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DATA FOUNDATION</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Dataset &amp; Data Engineering Pipeline</a:t>
            </a:r>
          </a:p>
        </p:txBody>
      </p:sp>
      <p:sp>
        <p:nvSpPr>
          <p:cNvPr id="4" name="Rounded Rectangle 3"/>
          <p:cNvSpPr/>
          <p:nvPr/>
        </p:nvSpPr>
        <p:spPr>
          <a:xfrm>
            <a:off x="731520" y="1325880"/>
            <a:ext cx="25146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35608"/>
            <a:ext cx="2514600" cy="1005840"/>
          </a:xfrm>
          <a:prstGeom prst="rect">
            <a:avLst/>
          </a:prstGeom>
          <a:noFill/>
        </p:spPr>
        <p:txBody>
          <a:bodyPr wrap="square">
            <a:spAutoFit/>
          </a:bodyPr>
          <a:lstStyle/>
          <a:p>
            <a:pPr algn="ctr">
              <a:defRPr sz="2400" b="1">
                <a:solidFill>
                  <a:srgbClr val="06B6D4"/>
                </a:solidFill>
                <a:latin typeface="Segoe UI"/>
              </a:defRPr>
            </a:pPr>
            <a:r>
              <a:t>1,261</a:t>
            </a:r>
          </a:p>
          <a:p>
            <a:pPr algn="ctr">
              <a:defRPr sz="1000" b="1">
                <a:solidFill>
                  <a:srgbClr val="FFFFFF"/>
                </a:solidFill>
                <a:latin typeface="Segoe UI"/>
              </a:defRPr>
            </a:pPr>
            <a:r>
              <a:t>TOTAL VIDEOS</a:t>
            </a:r>
          </a:p>
          <a:p>
            <a:pPr algn="ctr">
              <a:defRPr sz="900">
                <a:solidFill>
                  <a:srgbClr val="94A3B8"/>
                </a:solidFill>
                <a:latin typeface="Segoe UI"/>
              </a:defRPr>
            </a:pPr>
            <a:r>
              <a:t>867 Train / 197 Val / 197 Test</a:t>
            </a:r>
          </a:p>
        </p:txBody>
      </p:sp>
      <p:sp>
        <p:nvSpPr>
          <p:cNvPr id="6" name="Rounded Rectangle 5"/>
          <p:cNvSpPr/>
          <p:nvPr/>
        </p:nvSpPr>
        <p:spPr>
          <a:xfrm>
            <a:off x="3456432" y="1325880"/>
            <a:ext cx="25146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56432" y="1435608"/>
            <a:ext cx="2514600" cy="1005840"/>
          </a:xfrm>
          <a:prstGeom prst="rect">
            <a:avLst/>
          </a:prstGeom>
          <a:noFill/>
        </p:spPr>
        <p:txBody>
          <a:bodyPr wrap="square">
            <a:spAutoFit/>
          </a:bodyPr>
          <a:lstStyle/>
          <a:p>
            <a:pPr algn="ctr">
              <a:defRPr sz="2400" b="1">
                <a:solidFill>
                  <a:srgbClr val="06B6D4"/>
                </a:solidFill>
                <a:latin typeface="Segoe UI"/>
              </a:defRPr>
            </a:pPr>
            <a:r>
              <a:t>9</a:t>
            </a:r>
          </a:p>
          <a:p>
            <a:pPr algn="ctr">
              <a:defRPr sz="1000" b="1">
                <a:solidFill>
                  <a:srgbClr val="FFFFFF"/>
                </a:solidFill>
                <a:latin typeface="Segoe UI"/>
              </a:defRPr>
            </a:pPr>
            <a:r>
              <a:t>ACTION CLASSES</a:t>
            </a:r>
          </a:p>
          <a:p>
            <a:pPr algn="ctr">
              <a:defRPr sz="900">
                <a:solidFill>
                  <a:srgbClr val="94A3B8"/>
                </a:solidFill>
                <a:latin typeface="Segoe UI"/>
              </a:defRPr>
            </a:pPr>
            <a:r>
              <a:t>Balanced Activity Categories</a:t>
            </a:r>
          </a:p>
        </p:txBody>
      </p:sp>
      <p:sp>
        <p:nvSpPr>
          <p:cNvPr id="8" name="Rounded Rectangle 7"/>
          <p:cNvSpPr/>
          <p:nvPr/>
        </p:nvSpPr>
        <p:spPr>
          <a:xfrm>
            <a:off x="6181344" y="1325880"/>
            <a:ext cx="25146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1344" y="1435608"/>
            <a:ext cx="2514600" cy="1005840"/>
          </a:xfrm>
          <a:prstGeom prst="rect">
            <a:avLst/>
          </a:prstGeom>
          <a:noFill/>
        </p:spPr>
        <p:txBody>
          <a:bodyPr wrap="square">
            <a:spAutoFit/>
          </a:bodyPr>
          <a:lstStyle/>
          <a:p>
            <a:pPr algn="ctr">
              <a:defRPr sz="2400" b="1">
                <a:solidFill>
                  <a:srgbClr val="06B6D4"/>
                </a:solidFill>
                <a:latin typeface="Segoe UI"/>
              </a:defRPr>
            </a:pPr>
            <a:r>
              <a:t>16</a:t>
            </a:r>
          </a:p>
          <a:p>
            <a:pPr algn="ctr">
              <a:defRPr sz="1000" b="1">
                <a:solidFill>
                  <a:srgbClr val="FFFFFF"/>
                </a:solidFill>
                <a:latin typeface="Segoe UI"/>
              </a:defRPr>
            </a:pPr>
            <a:r>
              <a:t>FRAMES / VIDEO</a:t>
            </a:r>
          </a:p>
          <a:p>
            <a:pPr algn="ctr">
              <a:defRPr sz="900">
                <a:solidFill>
                  <a:srgbClr val="94A3B8"/>
                </a:solidFill>
                <a:latin typeface="Segoe UI"/>
              </a:defRPr>
            </a:pPr>
            <a:r>
              <a:t>224 × 224 RGB Uniform Stride</a:t>
            </a:r>
          </a:p>
        </p:txBody>
      </p:sp>
      <p:sp>
        <p:nvSpPr>
          <p:cNvPr id="10" name="Rounded Rectangle 9"/>
          <p:cNvSpPr/>
          <p:nvPr/>
        </p:nvSpPr>
        <p:spPr>
          <a:xfrm>
            <a:off x="8906256" y="1325880"/>
            <a:ext cx="2514600" cy="11887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06256" y="1435608"/>
            <a:ext cx="2514600" cy="1005840"/>
          </a:xfrm>
          <a:prstGeom prst="rect">
            <a:avLst/>
          </a:prstGeom>
          <a:noFill/>
        </p:spPr>
        <p:txBody>
          <a:bodyPr wrap="square">
            <a:spAutoFit/>
          </a:bodyPr>
          <a:lstStyle/>
          <a:p>
            <a:pPr algn="ctr">
              <a:defRPr sz="2400" b="1">
                <a:solidFill>
                  <a:srgbClr val="06B6D4"/>
                </a:solidFill>
                <a:latin typeface="Segoe UI"/>
              </a:defRPr>
            </a:pPr>
            <a:r>
              <a:t>20,176</a:t>
            </a:r>
          </a:p>
          <a:p>
            <a:pPr algn="ctr">
              <a:defRPr sz="1000" b="1">
                <a:solidFill>
                  <a:srgbClr val="FFFFFF"/>
                </a:solidFill>
                <a:latin typeface="Segoe UI"/>
              </a:defRPr>
            </a:pPr>
            <a:r>
              <a:t>PROCESSED FRAMES</a:t>
            </a:r>
          </a:p>
          <a:p>
            <a:pPr algn="ctr">
              <a:defRPr sz="900">
                <a:solidFill>
                  <a:srgbClr val="94A3B8"/>
                </a:solidFill>
                <a:latin typeface="Segoe UI"/>
              </a:defRPr>
            </a:pPr>
            <a:r>
              <a:t>0 Corrupted / 0 Dropped</a:t>
            </a:r>
          </a:p>
        </p:txBody>
      </p:sp>
      <p:sp>
        <p:nvSpPr>
          <p:cNvPr id="12" name="Rounded Rectangle 11"/>
          <p:cNvSpPr/>
          <p:nvPr/>
        </p:nvSpPr>
        <p:spPr>
          <a:xfrm>
            <a:off x="731520" y="2697480"/>
            <a:ext cx="10698480" cy="1234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88920"/>
            <a:ext cx="10332720" cy="274320"/>
          </a:xfrm>
          <a:prstGeom prst="rect">
            <a:avLst/>
          </a:prstGeom>
          <a:noFill/>
        </p:spPr>
        <p:txBody>
          <a:bodyPr wrap="square">
            <a:spAutoFit/>
          </a:bodyPr>
          <a:lstStyle/>
          <a:p>
            <a:pPr>
              <a:defRPr sz="1100" b="1">
                <a:solidFill>
                  <a:srgbClr val="38BDF8"/>
                </a:solidFill>
                <a:latin typeface="Segoe UI"/>
              </a:defRPr>
            </a:pPr>
            <a:r>
              <a:t>CURATED 9 ACTION CLASSES (UCF101 BENCHMARK SUBSET)</a:t>
            </a:r>
          </a:p>
        </p:txBody>
      </p:sp>
      <p:sp>
        <p:nvSpPr>
          <p:cNvPr id="14" name="Rounded Rectangle 13"/>
          <p:cNvSpPr/>
          <p:nvPr/>
        </p:nvSpPr>
        <p:spPr>
          <a:xfrm>
            <a:off x="914400"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Archery</a:t>
            </a:r>
          </a:p>
          <a:p>
            <a:pPr algn="ctr">
              <a:defRPr sz="850">
                <a:solidFill>
                  <a:srgbClr val="94A3B8"/>
                </a:solidFill>
                <a:latin typeface="Segoe UI"/>
              </a:defRPr>
            </a:pPr>
            <a:r>
              <a:t>UCF101</a:t>
            </a:r>
          </a:p>
        </p:txBody>
      </p:sp>
      <p:sp>
        <p:nvSpPr>
          <p:cNvPr id="15" name="Rounded Rectangle 14"/>
          <p:cNvSpPr/>
          <p:nvPr/>
        </p:nvSpPr>
        <p:spPr>
          <a:xfrm>
            <a:off x="2066544"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Basketball</a:t>
            </a:r>
          </a:p>
          <a:p>
            <a:pPr algn="ctr">
              <a:defRPr sz="850">
                <a:solidFill>
                  <a:srgbClr val="94A3B8"/>
                </a:solidFill>
                <a:latin typeface="Segoe UI"/>
              </a:defRPr>
            </a:pPr>
            <a:r>
              <a:t>UCF101</a:t>
            </a:r>
          </a:p>
        </p:txBody>
      </p:sp>
      <p:sp>
        <p:nvSpPr>
          <p:cNvPr id="16" name="Rounded Rectangle 15"/>
          <p:cNvSpPr/>
          <p:nvPr/>
        </p:nvSpPr>
        <p:spPr>
          <a:xfrm>
            <a:off x="3218688"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Biking</a:t>
            </a:r>
          </a:p>
          <a:p>
            <a:pPr algn="ctr">
              <a:defRPr sz="850">
                <a:solidFill>
                  <a:srgbClr val="94A3B8"/>
                </a:solidFill>
                <a:latin typeface="Segoe UI"/>
              </a:defRPr>
            </a:pPr>
            <a:r>
              <a:t>UCF101</a:t>
            </a:r>
          </a:p>
        </p:txBody>
      </p:sp>
      <p:sp>
        <p:nvSpPr>
          <p:cNvPr id="17" name="Rounded Rectangle 16"/>
          <p:cNvSpPr/>
          <p:nvPr/>
        </p:nvSpPr>
        <p:spPr>
          <a:xfrm>
            <a:off x="4370832"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Bowling</a:t>
            </a:r>
          </a:p>
          <a:p>
            <a:pPr algn="ctr">
              <a:defRPr sz="850">
                <a:solidFill>
                  <a:srgbClr val="94A3B8"/>
                </a:solidFill>
                <a:latin typeface="Segoe UI"/>
              </a:defRPr>
            </a:pPr>
            <a:r>
              <a:t>UCF101</a:t>
            </a:r>
          </a:p>
        </p:txBody>
      </p:sp>
      <p:sp>
        <p:nvSpPr>
          <p:cNvPr id="18" name="Rounded Rectangle 17"/>
          <p:cNvSpPr/>
          <p:nvPr/>
        </p:nvSpPr>
        <p:spPr>
          <a:xfrm>
            <a:off x="5522976"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Drumming</a:t>
            </a:r>
          </a:p>
          <a:p>
            <a:pPr algn="ctr">
              <a:defRPr sz="850">
                <a:solidFill>
                  <a:srgbClr val="94A3B8"/>
                </a:solidFill>
                <a:latin typeface="Segoe UI"/>
              </a:defRPr>
            </a:pPr>
            <a:r>
              <a:t>UCF101</a:t>
            </a:r>
          </a:p>
        </p:txBody>
      </p:sp>
      <p:sp>
        <p:nvSpPr>
          <p:cNvPr id="19" name="Rounded Rectangle 18"/>
          <p:cNvSpPr/>
          <p:nvPr/>
        </p:nvSpPr>
        <p:spPr>
          <a:xfrm>
            <a:off x="6675120"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JavelinThrow</a:t>
            </a:r>
          </a:p>
          <a:p>
            <a:pPr algn="ctr">
              <a:defRPr sz="850">
                <a:solidFill>
                  <a:srgbClr val="94A3B8"/>
                </a:solidFill>
                <a:latin typeface="Segoe UI"/>
              </a:defRPr>
            </a:pPr>
            <a:r>
              <a:t>UCF101</a:t>
            </a:r>
          </a:p>
        </p:txBody>
      </p:sp>
      <p:sp>
        <p:nvSpPr>
          <p:cNvPr id="20" name="Rounded Rectangle 19"/>
          <p:cNvSpPr/>
          <p:nvPr/>
        </p:nvSpPr>
        <p:spPr>
          <a:xfrm>
            <a:off x="7827264"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PlayingGuitar</a:t>
            </a:r>
          </a:p>
          <a:p>
            <a:pPr algn="ctr">
              <a:defRPr sz="850">
                <a:solidFill>
                  <a:srgbClr val="94A3B8"/>
                </a:solidFill>
                <a:latin typeface="Segoe UI"/>
              </a:defRPr>
            </a:pPr>
            <a:r>
              <a:t>UCF101</a:t>
            </a:r>
          </a:p>
        </p:txBody>
      </p:sp>
      <p:sp>
        <p:nvSpPr>
          <p:cNvPr id="21" name="Rounded Rectangle 20"/>
          <p:cNvSpPr/>
          <p:nvPr/>
        </p:nvSpPr>
        <p:spPr>
          <a:xfrm>
            <a:off x="8979408"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RopeClimbing</a:t>
            </a:r>
          </a:p>
          <a:p>
            <a:pPr algn="ctr">
              <a:defRPr sz="850">
                <a:solidFill>
                  <a:srgbClr val="94A3B8"/>
                </a:solidFill>
                <a:latin typeface="Segoe UI"/>
              </a:defRPr>
            </a:pPr>
            <a:r>
              <a:t>UCF101</a:t>
            </a:r>
          </a:p>
        </p:txBody>
      </p:sp>
      <p:sp>
        <p:nvSpPr>
          <p:cNvPr id="22" name="Rounded Rectangle 21"/>
          <p:cNvSpPr/>
          <p:nvPr/>
        </p:nvSpPr>
        <p:spPr>
          <a:xfrm>
            <a:off x="10131552" y="3136392"/>
            <a:ext cx="1078992"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Typing</a:t>
            </a:r>
          </a:p>
          <a:p>
            <a:pPr algn="ctr">
              <a:defRPr sz="850">
                <a:solidFill>
                  <a:srgbClr val="94A3B8"/>
                </a:solidFill>
                <a:latin typeface="Segoe UI"/>
              </a:defRPr>
            </a:pPr>
            <a:r>
              <a:t>UCF101</a:t>
            </a:r>
          </a:p>
        </p:txBody>
      </p:sp>
      <p:sp>
        <p:nvSpPr>
          <p:cNvPr id="23" name="Rounded Rectangle 22"/>
          <p:cNvSpPr/>
          <p:nvPr/>
        </p:nvSpPr>
        <p:spPr>
          <a:xfrm>
            <a:off x="731520" y="4114800"/>
            <a:ext cx="25146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251960"/>
            <a:ext cx="2240280" cy="1874520"/>
          </a:xfrm>
          <a:prstGeom prst="rect">
            <a:avLst/>
          </a:prstGeom>
          <a:noFill/>
        </p:spPr>
        <p:txBody>
          <a:bodyPr wrap="square">
            <a:spAutoFit/>
          </a:bodyPr>
          <a:lstStyle/>
          <a:p>
            <a:pPr>
              <a:defRPr sz="1000" b="1">
                <a:solidFill>
                  <a:srgbClr val="06B6D4"/>
                </a:solidFill>
                <a:latin typeface="Segoe UI"/>
              </a:defRPr>
            </a:pPr>
            <a:r>
              <a:t>STEP 1: INGESTION</a:t>
            </a:r>
          </a:p>
          <a:p>
            <a:pPr>
              <a:spcBef>
                <a:spcPts val="200"/>
              </a:spcBef>
              <a:defRPr sz="1200" b="1">
                <a:solidFill>
                  <a:srgbClr val="FFFFFF"/>
                </a:solidFill>
                <a:latin typeface="Segoe UI"/>
              </a:defRPr>
            </a:pPr>
            <a:r>
              <a:t>Raw UCF101 Videos</a:t>
            </a:r>
          </a:p>
          <a:p>
            <a:pPr>
              <a:spcBef>
                <a:spcPts val="600"/>
              </a:spcBef>
              <a:defRPr sz="1000">
                <a:solidFill>
                  <a:srgbClr val="94A3B8"/>
                </a:solidFill>
                <a:latin typeface="Segoe UI"/>
              </a:defRPr>
            </a:pPr>
            <a:r>
              <a:t>Loads .avi video clips containing variable durations and framerates across 9 distinct activity folders.</a:t>
            </a:r>
          </a:p>
        </p:txBody>
      </p:sp>
      <p:sp>
        <p:nvSpPr>
          <p:cNvPr id="25" name="Rounded Rectangle 24"/>
          <p:cNvSpPr/>
          <p:nvPr/>
        </p:nvSpPr>
        <p:spPr>
          <a:xfrm>
            <a:off x="3456432" y="4114800"/>
            <a:ext cx="25146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3592" y="4251960"/>
            <a:ext cx="2240280" cy="1874520"/>
          </a:xfrm>
          <a:prstGeom prst="rect">
            <a:avLst/>
          </a:prstGeom>
          <a:noFill/>
        </p:spPr>
        <p:txBody>
          <a:bodyPr wrap="square">
            <a:spAutoFit/>
          </a:bodyPr>
          <a:lstStyle/>
          <a:p>
            <a:pPr>
              <a:defRPr sz="1000" b="1">
                <a:solidFill>
                  <a:srgbClr val="06B6D4"/>
                </a:solidFill>
                <a:latin typeface="Segoe UI"/>
              </a:defRPr>
            </a:pPr>
            <a:r>
              <a:t>STEP 2: SAMPLING</a:t>
            </a:r>
          </a:p>
          <a:p>
            <a:pPr>
              <a:spcBef>
                <a:spcPts val="200"/>
              </a:spcBef>
              <a:defRPr sz="1200" b="1">
                <a:solidFill>
                  <a:srgbClr val="FFFFFF"/>
                </a:solidFill>
                <a:latin typeface="Segoe UI"/>
              </a:defRPr>
            </a:pPr>
            <a:r>
              <a:t>16 Uniform Frames</a:t>
            </a:r>
          </a:p>
          <a:p>
            <a:pPr>
              <a:spcBef>
                <a:spcPts val="600"/>
              </a:spcBef>
              <a:defRPr sz="1000">
                <a:solidFill>
                  <a:srgbClr val="94A3B8"/>
                </a:solidFill>
                <a:latin typeface="Segoe UI"/>
              </a:defRPr>
            </a:pPr>
            <a:r>
              <a:t>Evenly samples 16 frames across video duration; resizes and normalizes to 224 × 224 pixels (ImageNet RGB standard).</a:t>
            </a:r>
          </a:p>
        </p:txBody>
      </p:sp>
      <p:sp>
        <p:nvSpPr>
          <p:cNvPr id="27" name="Rounded Rectangle 26"/>
          <p:cNvSpPr/>
          <p:nvPr/>
        </p:nvSpPr>
        <p:spPr>
          <a:xfrm>
            <a:off x="6181344" y="4114800"/>
            <a:ext cx="25146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8504" y="4251960"/>
            <a:ext cx="2240280" cy="1874520"/>
          </a:xfrm>
          <a:prstGeom prst="rect">
            <a:avLst/>
          </a:prstGeom>
          <a:noFill/>
        </p:spPr>
        <p:txBody>
          <a:bodyPr wrap="square">
            <a:spAutoFit/>
          </a:bodyPr>
          <a:lstStyle/>
          <a:p>
            <a:pPr>
              <a:defRPr sz="1000" b="1">
                <a:solidFill>
                  <a:srgbClr val="06B6D4"/>
                </a:solidFill>
                <a:latin typeface="Segoe UI"/>
              </a:defRPr>
            </a:pPr>
            <a:r>
              <a:t>STEP 3: PARTITIONING</a:t>
            </a:r>
          </a:p>
          <a:p>
            <a:pPr>
              <a:spcBef>
                <a:spcPts val="200"/>
              </a:spcBef>
              <a:defRPr sz="1200" b="1">
                <a:solidFill>
                  <a:srgbClr val="FFFFFF"/>
                </a:solidFill>
                <a:latin typeface="Segoe UI"/>
              </a:defRPr>
            </a:pPr>
            <a:r>
              <a:t>Group-Safe Split</a:t>
            </a:r>
          </a:p>
          <a:p>
            <a:pPr>
              <a:spcBef>
                <a:spcPts val="600"/>
              </a:spcBef>
              <a:defRPr sz="1000">
                <a:solidFill>
                  <a:srgbClr val="94A3B8"/>
                </a:solidFill>
                <a:latin typeface="Segoe UI"/>
              </a:defRPr>
            </a:pPr>
            <a:r>
              <a:t>Strictly partitions videos by recording group (gXX). No actor or background environment appears in both train and test!</a:t>
            </a:r>
          </a:p>
        </p:txBody>
      </p:sp>
      <p:sp>
        <p:nvSpPr>
          <p:cNvPr id="29" name="Rounded Rectangle 28"/>
          <p:cNvSpPr/>
          <p:nvPr/>
        </p:nvSpPr>
        <p:spPr>
          <a:xfrm>
            <a:off x="8906256" y="4114800"/>
            <a:ext cx="251460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43416" y="4251960"/>
            <a:ext cx="2240280" cy="1874520"/>
          </a:xfrm>
          <a:prstGeom prst="rect">
            <a:avLst/>
          </a:prstGeom>
          <a:noFill/>
        </p:spPr>
        <p:txBody>
          <a:bodyPr wrap="square">
            <a:spAutoFit/>
          </a:bodyPr>
          <a:lstStyle/>
          <a:p>
            <a:pPr>
              <a:defRPr sz="1000" b="1">
                <a:solidFill>
                  <a:srgbClr val="06B6D4"/>
                </a:solidFill>
                <a:latin typeface="Segoe UI"/>
              </a:defRPr>
            </a:pPr>
            <a:r>
              <a:t>STEP 4: SERIALIZATION</a:t>
            </a:r>
          </a:p>
          <a:p>
            <a:pPr>
              <a:spcBef>
                <a:spcPts val="200"/>
              </a:spcBef>
              <a:defRPr sz="1200" b="1">
                <a:solidFill>
                  <a:srgbClr val="FFFFFF"/>
                </a:solidFill>
                <a:latin typeface="Segoe UI"/>
              </a:defRPr>
            </a:pPr>
            <a:r>
              <a:t>Extracted Frame Tensors</a:t>
            </a:r>
          </a:p>
          <a:p>
            <a:pPr>
              <a:spcBef>
                <a:spcPts val="600"/>
              </a:spcBef>
              <a:defRPr sz="1000">
                <a:solidFill>
                  <a:srgbClr val="94A3B8"/>
                </a:solidFill>
                <a:latin typeface="Segoe UI"/>
              </a:defRPr>
            </a:pPr>
            <a:r>
              <a:t>Saves verified frame directories and split metadata manifests (video_splits.csv), guaranteeing 100% reproducibility.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SYSTEM DESIGN</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Complete System Architecture</a:t>
            </a:r>
          </a:p>
        </p:txBody>
      </p:sp>
      <p:sp>
        <p:nvSpPr>
          <p:cNvPr id="4" name="Rounded Rectangle 3"/>
          <p:cNvSpPr/>
          <p:nvPr/>
        </p:nvSpPr>
        <p:spPr>
          <a:xfrm>
            <a:off x="731520" y="1325880"/>
            <a:ext cx="10698480" cy="1600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274320"/>
          </a:xfrm>
          <a:prstGeom prst="rect">
            <a:avLst/>
          </a:prstGeom>
          <a:noFill/>
        </p:spPr>
        <p:txBody>
          <a:bodyPr wrap="none">
            <a:spAutoFit/>
          </a:bodyPr>
          <a:lstStyle/>
          <a:p>
            <a:pPr>
              <a:defRPr sz="1100" b="1">
                <a:solidFill>
                  <a:srgbClr val="06B6D4"/>
                </a:solidFill>
                <a:latin typeface="Segoe UI"/>
              </a:defRPr>
            </a:pPr>
            <a:r>
              <a:t>VISUAL ENCODER BRANCH (VIDEO TO 512-D REPRESENTATION)</a:t>
            </a:r>
          </a:p>
        </p:txBody>
      </p:sp>
      <p:sp>
        <p:nvSpPr>
          <p:cNvPr id="6" name="Rounded Rectangle 5"/>
          <p:cNvSpPr/>
          <p:nvPr/>
        </p:nvSpPr>
        <p:spPr>
          <a:xfrm>
            <a:off x="914400" y="1737360"/>
            <a:ext cx="1737360" cy="7772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Input Video</a:t>
            </a:r>
          </a:p>
          <a:p>
            <a:pPr algn="ctr">
              <a:defRPr sz="850">
                <a:solidFill>
                  <a:srgbClr val="94A3B8"/>
                </a:solidFill>
                <a:latin typeface="Segoe UI"/>
              </a:defRPr>
            </a:pPr>
            <a:r>
              <a:t>16 Sampled Frames</a:t>
            </a:r>
          </a:p>
        </p:txBody>
      </p:sp>
      <p:sp>
        <p:nvSpPr>
          <p:cNvPr id="7" name="TextBox 6"/>
          <p:cNvSpPr txBox="1"/>
          <p:nvPr/>
        </p:nvSpPr>
        <p:spPr>
          <a:xfrm>
            <a:off x="2651760" y="173736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8" name="Rounded Rectangle 7"/>
          <p:cNvSpPr/>
          <p:nvPr/>
        </p:nvSpPr>
        <p:spPr>
          <a:xfrm>
            <a:off x="3108960" y="1737360"/>
            <a:ext cx="1737360" cy="7772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ResNet18 CNN</a:t>
            </a:r>
          </a:p>
          <a:p>
            <a:pPr algn="ctr">
              <a:defRPr sz="850">
                <a:solidFill>
                  <a:srgbClr val="94A3B8"/>
                </a:solidFill>
                <a:latin typeface="Segoe UI"/>
              </a:defRPr>
            </a:pPr>
            <a:r>
              <a:t>ImageNet Backbone</a:t>
            </a:r>
          </a:p>
        </p:txBody>
      </p:sp>
      <p:sp>
        <p:nvSpPr>
          <p:cNvPr id="9" name="TextBox 8"/>
          <p:cNvSpPr txBox="1"/>
          <p:nvPr/>
        </p:nvSpPr>
        <p:spPr>
          <a:xfrm>
            <a:off x="4846320" y="173736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10" name="Rounded Rectangle 9"/>
          <p:cNvSpPr/>
          <p:nvPr/>
        </p:nvSpPr>
        <p:spPr>
          <a:xfrm>
            <a:off x="5303520" y="1737360"/>
            <a:ext cx="1737360" cy="7772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Frame Features</a:t>
            </a:r>
          </a:p>
          <a:p>
            <a:pPr algn="ctr">
              <a:defRPr sz="850">
                <a:solidFill>
                  <a:srgbClr val="94A3B8"/>
                </a:solidFill>
                <a:latin typeface="Segoe UI"/>
              </a:defRPr>
            </a:pPr>
            <a:r>
              <a:t>16 × 512-D Vectors</a:t>
            </a:r>
          </a:p>
        </p:txBody>
      </p:sp>
      <p:sp>
        <p:nvSpPr>
          <p:cNvPr id="11" name="TextBox 10"/>
          <p:cNvSpPr txBox="1"/>
          <p:nvPr/>
        </p:nvSpPr>
        <p:spPr>
          <a:xfrm>
            <a:off x="7040880" y="173736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12" name="Rounded Rectangle 11"/>
          <p:cNvSpPr/>
          <p:nvPr/>
        </p:nvSpPr>
        <p:spPr>
          <a:xfrm>
            <a:off x="7498080" y="1737360"/>
            <a:ext cx="1737360" cy="7772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Mean Pooling</a:t>
            </a:r>
          </a:p>
          <a:p>
            <a:pPr algn="ctr">
              <a:defRPr sz="850">
                <a:solidFill>
                  <a:srgbClr val="94A3B8"/>
                </a:solidFill>
                <a:latin typeface="Segoe UI"/>
              </a:defRPr>
            </a:pPr>
            <a:r>
              <a:t>Temporal Average</a:t>
            </a:r>
          </a:p>
        </p:txBody>
      </p:sp>
      <p:sp>
        <p:nvSpPr>
          <p:cNvPr id="13" name="TextBox 12"/>
          <p:cNvSpPr txBox="1"/>
          <p:nvPr/>
        </p:nvSpPr>
        <p:spPr>
          <a:xfrm>
            <a:off x="9235440" y="173736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14" name="Rounded Rectangle 13"/>
          <p:cNvSpPr/>
          <p:nvPr/>
        </p:nvSpPr>
        <p:spPr>
          <a:xfrm>
            <a:off x="9692640" y="1737360"/>
            <a:ext cx="1737360" cy="77724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StandardScaler</a:t>
            </a:r>
          </a:p>
          <a:p>
            <a:pPr algn="ctr">
              <a:defRPr sz="850">
                <a:solidFill>
                  <a:srgbClr val="94A3B8"/>
                </a:solidFill>
                <a:latin typeface="Segoe UI"/>
              </a:defRPr>
            </a:pPr>
            <a:r>
              <a:t>512-D Visual Vector</a:t>
            </a:r>
          </a:p>
        </p:txBody>
      </p:sp>
      <p:sp>
        <p:nvSpPr>
          <p:cNvPr id="15" name="Rounded Rectangle 14"/>
          <p:cNvSpPr/>
          <p:nvPr/>
        </p:nvSpPr>
        <p:spPr>
          <a:xfrm>
            <a:off x="731520" y="3063240"/>
            <a:ext cx="10698480" cy="1600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108960"/>
            <a:ext cx="10332720" cy="274320"/>
          </a:xfrm>
          <a:prstGeom prst="rect">
            <a:avLst/>
          </a:prstGeom>
          <a:noFill/>
        </p:spPr>
        <p:txBody>
          <a:bodyPr wrap="none">
            <a:spAutoFit/>
          </a:bodyPr>
          <a:lstStyle/>
          <a:p>
            <a:pPr>
              <a:defRPr sz="1100" b="1">
                <a:solidFill>
                  <a:srgbClr val="38BDF8"/>
                </a:solidFill>
                <a:latin typeface="Segoe UI"/>
              </a:defRPr>
            </a:pPr>
            <a:r>
              <a:t>NATURAL LANGUAGE BRANCH (ACTION PROMPTS TO 384-D SEMANTICS)</a:t>
            </a:r>
          </a:p>
        </p:txBody>
      </p:sp>
      <p:sp>
        <p:nvSpPr>
          <p:cNvPr id="17" name="Rounded Rectangle 16"/>
          <p:cNvSpPr/>
          <p:nvPr/>
        </p:nvSpPr>
        <p:spPr>
          <a:xfrm>
            <a:off x="914400" y="3474720"/>
            <a:ext cx="1737360" cy="7772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45 Descriptions</a:t>
            </a:r>
          </a:p>
          <a:p>
            <a:pPr algn="ctr">
              <a:defRPr sz="850">
                <a:solidFill>
                  <a:srgbClr val="94A3B8"/>
                </a:solidFill>
                <a:latin typeface="Segoe UI"/>
              </a:defRPr>
            </a:pPr>
            <a:r>
              <a:t>5 Prompts per Class</a:t>
            </a:r>
          </a:p>
        </p:txBody>
      </p:sp>
      <p:sp>
        <p:nvSpPr>
          <p:cNvPr id="18" name="TextBox 17"/>
          <p:cNvSpPr txBox="1"/>
          <p:nvPr/>
        </p:nvSpPr>
        <p:spPr>
          <a:xfrm>
            <a:off x="2651760" y="347472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19" name="Rounded Rectangle 18"/>
          <p:cNvSpPr/>
          <p:nvPr/>
        </p:nvSpPr>
        <p:spPr>
          <a:xfrm>
            <a:off x="3108960" y="3474720"/>
            <a:ext cx="1737360" cy="7772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Sentence-BERT</a:t>
            </a:r>
          </a:p>
          <a:p>
            <a:pPr algn="ctr">
              <a:defRPr sz="850">
                <a:solidFill>
                  <a:srgbClr val="94A3B8"/>
                </a:solidFill>
                <a:latin typeface="Segoe UI"/>
              </a:defRPr>
            </a:pPr>
            <a:r>
              <a:t>all-MiniLM-L6-v2</a:t>
            </a:r>
          </a:p>
        </p:txBody>
      </p:sp>
      <p:sp>
        <p:nvSpPr>
          <p:cNvPr id="20" name="TextBox 19"/>
          <p:cNvSpPr txBox="1"/>
          <p:nvPr/>
        </p:nvSpPr>
        <p:spPr>
          <a:xfrm>
            <a:off x="4846320" y="347472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21" name="Rounded Rectangle 20"/>
          <p:cNvSpPr/>
          <p:nvPr/>
        </p:nvSpPr>
        <p:spPr>
          <a:xfrm>
            <a:off x="5303520" y="3474720"/>
            <a:ext cx="1737360" cy="7772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Text Embeddings</a:t>
            </a:r>
          </a:p>
          <a:p>
            <a:pPr algn="ctr">
              <a:defRPr sz="850">
                <a:solidFill>
                  <a:srgbClr val="94A3B8"/>
                </a:solidFill>
                <a:latin typeface="Segoe UI"/>
              </a:defRPr>
            </a:pPr>
            <a:r>
              <a:t>45 × 384-D Vectors</a:t>
            </a:r>
          </a:p>
        </p:txBody>
      </p:sp>
      <p:sp>
        <p:nvSpPr>
          <p:cNvPr id="22" name="TextBox 21"/>
          <p:cNvSpPr txBox="1"/>
          <p:nvPr/>
        </p:nvSpPr>
        <p:spPr>
          <a:xfrm>
            <a:off x="7040880" y="347472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23" name="Rounded Rectangle 22"/>
          <p:cNvSpPr/>
          <p:nvPr/>
        </p:nvSpPr>
        <p:spPr>
          <a:xfrm>
            <a:off x="7498080" y="3474720"/>
            <a:ext cx="1737360" cy="7772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Class Averaging</a:t>
            </a:r>
          </a:p>
          <a:p>
            <a:pPr algn="ctr">
              <a:defRPr sz="850">
                <a:solidFill>
                  <a:srgbClr val="94A3B8"/>
                </a:solidFill>
                <a:latin typeface="Segoe UI"/>
              </a:defRPr>
            </a:pPr>
            <a:r>
              <a:t>Per-Class Mean</a:t>
            </a:r>
          </a:p>
        </p:txBody>
      </p:sp>
      <p:sp>
        <p:nvSpPr>
          <p:cNvPr id="24" name="TextBox 23"/>
          <p:cNvSpPr txBox="1"/>
          <p:nvPr/>
        </p:nvSpPr>
        <p:spPr>
          <a:xfrm>
            <a:off x="9235440" y="347472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25" name="Rounded Rectangle 24"/>
          <p:cNvSpPr/>
          <p:nvPr/>
        </p:nvSpPr>
        <p:spPr>
          <a:xfrm>
            <a:off x="9692640" y="3474720"/>
            <a:ext cx="1737360" cy="77724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L2 Normalization</a:t>
            </a:r>
          </a:p>
          <a:p>
            <a:pPr algn="ctr">
              <a:defRPr sz="850">
                <a:solidFill>
                  <a:srgbClr val="94A3B8"/>
                </a:solidFill>
                <a:latin typeface="Segoe UI"/>
              </a:defRPr>
            </a:pPr>
            <a:r>
              <a:t>9 × 384-D Space</a:t>
            </a:r>
          </a:p>
        </p:txBody>
      </p:sp>
      <p:sp>
        <p:nvSpPr>
          <p:cNvPr id="26" name="Rounded Rectangle 25"/>
          <p:cNvSpPr/>
          <p:nvPr/>
        </p:nvSpPr>
        <p:spPr>
          <a:xfrm>
            <a:off x="731520" y="4800600"/>
            <a:ext cx="10698480" cy="16459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46320"/>
            <a:ext cx="10332720" cy="274320"/>
          </a:xfrm>
          <a:prstGeom prst="rect">
            <a:avLst/>
          </a:prstGeom>
          <a:noFill/>
        </p:spPr>
        <p:txBody>
          <a:bodyPr wrap="none">
            <a:spAutoFit/>
          </a:bodyPr>
          <a:lstStyle/>
          <a:p>
            <a:pPr>
              <a:defRPr sz="1100" b="1">
                <a:solidFill>
                  <a:srgbClr val="10B981"/>
                </a:solidFill>
                <a:latin typeface="Segoe UI"/>
              </a:defRPr>
            </a:pPr>
            <a:r>
              <a:t>CROSS-MODAL PROJECTION &amp; EXPLAINABLE INFERENCE (ZERO LABEL LEAKAGE)</a:t>
            </a:r>
          </a:p>
        </p:txBody>
      </p:sp>
      <p:sp>
        <p:nvSpPr>
          <p:cNvPr id="28" name="Rounded Rectangle 27"/>
          <p:cNvSpPr/>
          <p:nvPr/>
        </p:nvSpPr>
        <p:spPr>
          <a:xfrm>
            <a:off x="914400" y="5212080"/>
            <a:ext cx="1737360" cy="77724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Visual Vector</a:t>
            </a:r>
          </a:p>
          <a:p>
            <a:pPr algn="ctr">
              <a:defRPr sz="850">
                <a:solidFill>
                  <a:srgbClr val="94A3B8"/>
                </a:solidFill>
                <a:latin typeface="Segoe UI"/>
              </a:defRPr>
            </a:pPr>
            <a:r>
              <a:t>512-D Input</a:t>
            </a:r>
          </a:p>
        </p:txBody>
      </p:sp>
      <p:sp>
        <p:nvSpPr>
          <p:cNvPr id="29" name="TextBox 28"/>
          <p:cNvSpPr txBox="1"/>
          <p:nvPr/>
        </p:nvSpPr>
        <p:spPr>
          <a:xfrm>
            <a:off x="2651760" y="521208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30" name="Rounded Rectangle 29"/>
          <p:cNvSpPr/>
          <p:nvPr/>
        </p:nvSpPr>
        <p:spPr>
          <a:xfrm>
            <a:off x="3108960" y="5212080"/>
            <a:ext cx="1737360" cy="77724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Projection Layer</a:t>
            </a:r>
          </a:p>
          <a:p>
            <a:pPr algn="ctr">
              <a:defRPr sz="850">
                <a:solidFill>
                  <a:srgbClr val="94A3B8"/>
                </a:solidFill>
                <a:latin typeface="Segoe UI"/>
              </a:defRPr>
            </a:pPr>
            <a:r>
              <a:t>Linear 512 → 384-D</a:t>
            </a:r>
          </a:p>
        </p:txBody>
      </p:sp>
      <p:sp>
        <p:nvSpPr>
          <p:cNvPr id="31" name="TextBox 30"/>
          <p:cNvSpPr txBox="1"/>
          <p:nvPr/>
        </p:nvSpPr>
        <p:spPr>
          <a:xfrm>
            <a:off x="4846320" y="521208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32" name="Rounded Rectangle 31"/>
          <p:cNvSpPr/>
          <p:nvPr/>
        </p:nvSpPr>
        <p:spPr>
          <a:xfrm>
            <a:off x="5303520" y="5212080"/>
            <a:ext cx="1737360" cy="77724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Predicted Vector</a:t>
            </a:r>
          </a:p>
          <a:p>
            <a:pPr algn="ctr">
              <a:defRPr sz="850">
                <a:solidFill>
                  <a:srgbClr val="94A3B8"/>
                </a:solidFill>
                <a:latin typeface="Segoe UI"/>
              </a:defRPr>
            </a:pPr>
            <a:r>
              <a:t>384-D in Text Space</a:t>
            </a:r>
          </a:p>
        </p:txBody>
      </p:sp>
      <p:sp>
        <p:nvSpPr>
          <p:cNvPr id="33" name="TextBox 32"/>
          <p:cNvSpPr txBox="1"/>
          <p:nvPr/>
        </p:nvSpPr>
        <p:spPr>
          <a:xfrm>
            <a:off x="7040880" y="521208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34" name="Rounded Rectangle 33"/>
          <p:cNvSpPr/>
          <p:nvPr/>
        </p:nvSpPr>
        <p:spPr>
          <a:xfrm>
            <a:off x="7498080" y="5212080"/>
            <a:ext cx="1737360" cy="77724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Cosine Matching</a:t>
            </a:r>
          </a:p>
          <a:p>
            <a:pPr algn="ctr">
              <a:defRPr sz="850">
                <a:solidFill>
                  <a:srgbClr val="94A3B8"/>
                </a:solidFill>
                <a:latin typeface="Segoe UI"/>
              </a:defRPr>
            </a:pPr>
            <a:r>
              <a:t>vs 9 Class Anchors</a:t>
            </a:r>
          </a:p>
        </p:txBody>
      </p:sp>
      <p:sp>
        <p:nvSpPr>
          <p:cNvPr id="35" name="TextBox 34"/>
          <p:cNvSpPr txBox="1"/>
          <p:nvPr/>
        </p:nvSpPr>
        <p:spPr>
          <a:xfrm>
            <a:off x="9235440" y="5212080"/>
            <a:ext cx="457200" cy="777240"/>
          </a:xfrm>
          <a:prstGeom prst="rect">
            <a:avLst/>
          </a:prstGeom>
          <a:noFill/>
        </p:spPr>
        <p:txBody>
          <a:bodyPr wrap="none" anchor="ctr" lIns="0" rIns="0" tIns="0" bIns="0">
            <a:spAutoFit/>
          </a:bodyPr>
          <a:lstStyle/>
          <a:p>
            <a:pPr algn="ctr">
              <a:defRPr sz="1100" b="1">
                <a:solidFill>
                  <a:srgbClr val="06B6D4"/>
                </a:solidFill>
                <a:latin typeface="Segoe UI"/>
              </a:defRPr>
            </a:pPr>
            <a:r>
              <a:t>──►</a:t>
            </a:r>
          </a:p>
        </p:txBody>
      </p:sp>
      <p:sp>
        <p:nvSpPr>
          <p:cNvPr id="36" name="Rounded Rectangle 35"/>
          <p:cNvSpPr/>
          <p:nvPr/>
        </p:nvSpPr>
        <p:spPr>
          <a:xfrm>
            <a:off x="9692640" y="5212080"/>
            <a:ext cx="1737360" cy="77724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1000" b="1">
                <a:solidFill>
                  <a:srgbClr val="FFFFFF"/>
                </a:solidFill>
                <a:latin typeface="Segoe UI"/>
              </a:defRPr>
            </a:pPr>
            <a:r>
              <a:t>XAI Engine</a:t>
            </a:r>
          </a:p>
          <a:p>
            <a:pPr algn="ctr">
              <a:defRPr sz="850">
                <a:solidFill>
                  <a:srgbClr val="94A3B8"/>
                </a:solidFill>
                <a:latin typeface="Segoe UI"/>
              </a:defRPr>
            </a:pPr>
            <a:r>
              <a:t>Top-K &amp; Explanation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MODALITY ANALYSIS</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Visual Baseline &amp; Semantic Representation</a:t>
            </a:r>
          </a:p>
        </p:txBody>
      </p:sp>
      <p:sp>
        <p:nvSpPr>
          <p:cNvPr id="4" name="Rounded Rectangle 3"/>
          <p:cNvSpPr/>
          <p:nvPr/>
        </p:nvSpPr>
        <p:spPr>
          <a:xfrm>
            <a:off x="7315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4663440"/>
          </a:xfrm>
          <a:prstGeom prst="rect">
            <a:avLst/>
          </a:prstGeom>
          <a:noFill/>
        </p:spPr>
        <p:txBody>
          <a:bodyPr wrap="square">
            <a:spAutoFit/>
          </a:bodyPr>
          <a:lstStyle/>
          <a:p>
            <a:pPr>
              <a:defRPr sz="1300" b="1">
                <a:solidFill>
                  <a:srgbClr val="06B6D4"/>
                </a:solidFill>
                <a:latin typeface="Segoe UI"/>
              </a:defRPr>
            </a:pPr>
            <a:r>
              <a:t>VIDEO-ONLY CNN BASELINE</a:t>
            </a:r>
          </a:p>
          <a:p>
            <a:pPr>
              <a:spcBef>
                <a:spcPts val="400"/>
              </a:spcBef>
              <a:defRPr sz="1100">
                <a:solidFill>
                  <a:srgbClr val="94A3B8"/>
                </a:solidFill>
                <a:latin typeface="Segoe UI"/>
              </a:defRPr>
            </a:pPr>
            <a:r>
              <a:t>Architecture: ResNet18 (512-D) + Mean Pooling + StandardScaler + Logistic Regression (L-BFGS)</a:t>
            </a:r>
          </a:p>
          <a:p>
            <a:pPr>
              <a:spcBef>
                <a:spcPts val="800"/>
              </a:spcBef>
              <a:defRPr sz="1300" b="1">
                <a:solidFill>
                  <a:srgbClr val="10B981"/>
                </a:solidFill>
                <a:latin typeface="Segoe UI"/>
              </a:defRPr>
            </a:pPr>
            <a:r>
              <a:t>Test Accuracy: 93.40%  |  Macro F1: 92.77%</a:t>
            </a:r>
          </a:p>
          <a:p>
            <a:pPr>
              <a:spcBef>
                <a:spcPts val="800"/>
              </a:spcBef>
              <a:defRPr sz="1050">
                <a:solidFill>
                  <a:srgbClr val="E2E8F0"/>
                </a:solidFill>
                <a:latin typeface="Segoe UI"/>
              </a:defRPr>
            </a:pPr>
            <a:r>
              <a:t>• Perfect 1.0000 F1 Classes: Bowling, Drumming, PlayingGuitar, Typing (High visual distinctiveness).</a:t>
            </a:r>
            <a:br/>
            <a:r>
              <a:t>• Strong Classes: Biking (0.9756), Archery (0.9167), RopeClimbing (0.8889).</a:t>
            </a:r>
            <a:br/>
            <a:r>
              <a:t>• Difficult Classes: Basketball (0.7907), JavelinThrow (0.7778).</a:t>
            </a:r>
            <a:br/>
            <a:r>
              <a:t>• Common Misclassifications: JavelinThrow → Basketball (4 clips), Archery → JavelinThrow (3 clips) due to shared standing poses &amp; arm elevation.</a:t>
            </a:r>
          </a:p>
        </p:txBody>
      </p:sp>
      <p:sp>
        <p:nvSpPr>
          <p:cNvPr id="6" name="Rounded Rectangle 5"/>
          <p:cNvSpPr/>
          <p:nvPr/>
        </p:nvSpPr>
        <p:spPr>
          <a:xfrm>
            <a:off x="62179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754880" cy="1188720"/>
          </a:xfrm>
          <a:prstGeom prst="rect">
            <a:avLst/>
          </a:prstGeom>
          <a:noFill/>
        </p:spPr>
        <p:txBody>
          <a:bodyPr wrap="square">
            <a:spAutoFit/>
          </a:bodyPr>
          <a:lstStyle/>
          <a:p>
            <a:pPr>
              <a:defRPr sz="1300" b="1">
                <a:solidFill>
                  <a:srgbClr val="38BDF8"/>
                </a:solidFill>
                <a:latin typeface="Segoe UI"/>
              </a:defRPr>
            </a:pPr>
            <a:r>
              <a:t>SENTENCE-BERT SEMANTIC ACTION SPACE</a:t>
            </a:r>
          </a:p>
          <a:p>
            <a:pPr>
              <a:spcBef>
                <a:spcPts val="400"/>
              </a:spcBef>
              <a:defRPr sz="1000">
                <a:solidFill>
                  <a:srgbClr val="E2E8F0"/>
                </a:solidFill>
                <a:latin typeface="Segoe UI"/>
              </a:defRPr>
            </a:pPr>
            <a:r>
              <a:t>Model: all-MiniLM-L6-v2 (384-D) | 45 descriptions (5/class) | Metric: Cosine Similarity</a:t>
            </a:r>
            <a:br/>
            <a:r>
              <a:t>• Highest pairs: Drumming ↔ Guitar (0.5231), Basketball ↔ Bowling (0.4992)</a:t>
            </a:r>
            <a:br/>
            <a:r>
              <a:t>• Lowest pairs: Javelin ↔ Typing (0.1454), Bowling ↔ Typing (0.1727)</a:t>
            </a:r>
          </a:p>
        </p:txBody>
      </p:sp>
      <p:pic>
        <p:nvPicPr>
          <p:cNvPr id="8" name="Picture 7" descr="text_similarity_heatmap.png"/>
          <p:cNvPicPr>
            <a:picLocks noChangeAspect="1"/>
          </p:cNvPicPr>
          <p:nvPr/>
        </p:nvPicPr>
        <p:blipFill>
          <a:blip r:embed="rId2"/>
          <a:stretch>
            <a:fillRect/>
          </a:stretch>
        </p:blipFill>
        <p:spPr>
          <a:xfrm>
            <a:off x="6675120" y="2697480"/>
            <a:ext cx="4206240" cy="3383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SCIENTIFIC RIGOR</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Vision-Language Fusion &amp; Label Leakage Dilemma</a:t>
            </a:r>
          </a:p>
        </p:txBody>
      </p:sp>
      <p:sp>
        <p:nvSpPr>
          <p:cNvPr id="4" name="Rounded Rectangle 3"/>
          <p:cNvSpPr/>
          <p:nvPr/>
        </p:nvSpPr>
        <p:spPr>
          <a:xfrm>
            <a:off x="731520" y="1325880"/>
            <a:ext cx="5120640" cy="393192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3657600"/>
          </a:xfrm>
          <a:prstGeom prst="rect">
            <a:avLst/>
          </a:prstGeom>
          <a:noFill/>
        </p:spPr>
        <p:txBody>
          <a:bodyPr wrap="square">
            <a:spAutoFit/>
          </a:bodyPr>
          <a:lstStyle/>
          <a:p>
            <a:pPr>
              <a:defRPr sz="1300" b="1">
                <a:solidFill>
                  <a:srgbClr val="EF4444"/>
                </a:solidFill>
                <a:latin typeface="Segoe UI"/>
              </a:defRPr>
            </a:pPr>
            <a:r>
              <a:t>❌ INVALID ORACLE FUSION (TARGET LEAKAGE)</a:t>
            </a:r>
          </a:p>
          <a:p>
            <a:pPr>
              <a:spcBef>
                <a:spcPts val="800"/>
              </a:spcBef>
              <a:defRPr sz="1050" b="1">
                <a:solidFill>
                  <a:srgbClr val="FFFFFF"/>
                </a:solidFill>
                <a:latin typeface="Segoe UI"/>
              </a:defRPr>
            </a:pPr>
            <a:r>
              <a:t>Video Feature (512-D) + Ground-Truth Text Embedding (384-D) ──► Concatenation (896-D) ──► 100.0% Test Accuracy</a:t>
            </a:r>
          </a:p>
          <a:p>
            <a:pPr>
              <a:spcBef>
                <a:spcPts val="800"/>
              </a:spcBef>
              <a:defRPr sz="1100">
                <a:solidFill>
                  <a:srgbClr val="E2E8F0"/>
                </a:solidFill>
                <a:latin typeface="Segoe UI"/>
              </a:defRPr>
            </a:pPr>
            <a:r>
              <a:t>• Fatal Methodological Flaw: The model is provided the Sentence-BERT embedding of the TRUE ground-truth action label at test time.</a:t>
            </a:r>
            <a:br/>
            <a:r>
              <a:t>• Artificially Perfect Score: The classifier simply reads the label embedded in the text representation.</a:t>
            </a:r>
            <a:br/>
            <a:r>
              <a:t>• Non-Deployable: In production on unseen video, the ground-truth text label is unknown and unavailable!</a:t>
            </a:r>
          </a:p>
        </p:txBody>
      </p:sp>
      <p:sp>
        <p:nvSpPr>
          <p:cNvPr id="6" name="Rounded Rectangle 5"/>
          <p:cNvSpPr/>
          <p:nvPr/>
        </p:nvSpPr>
        <p:spPr>
          <a:xfrm>
            <a:off x="6217920" y="1325880"/>
            <a:ext cx="5120640" cy="39319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754880" cy="3657600"/>
          </a:xfrm>
          <a:prstGeom prst="rect">
            <a:avLst/>
          </a:prstGeom>
          <a:noFill/>
        </p:spPr>
        <p:txBody>
          <a:bodyPr wrap="square">
            <a:spAutoFit/>
          </a:bodyPr>
          <a:lstStyle/>
          <a:p>
            <a:pPr>
              <a:defRPr sz="1300" b="1">
                <a:solidFill>
                  <a:srgbClr val="10B981"/>
                </a:solidFill>
                <a:latin typeface="Segoe UI"/>
              </a:defRPr>
            </a:pPr>
            <a:r>
              <a:t>✅ LEAKAGE-SAFE SEMANTIC PROJECTION (DEPLOYABLE)</a:t>
            </a:r>
          </a:p>
          <a:p>
            <a:pPr>
              <a:spcBef>
                <a:spcPts val="800"/>
              </a:spcBef>
              <a:defRPr sz="1050" b="1">
                <a:solidFill>
                  <a:srgbClr val="FFFFFF"/>
                </a:solidFill>
                <a:latin typeface="Segoe UI"/>
              </a:defRPr>
            </a:pPr>
            <a:r>
              <a:t>Video Feature (512-D) ──► Learned Linear Projection ──► Predicted Semantic Vector (384-D) ──► 87.82% Test Accuracy</a:t>
            </a:r>
          </a:p>
          <a:p>
            <a:pPr>
              <a:spcBef>
                <a:spcPts val="800"/>
              </a:spcBef>
              <a:defRPr sz="1100">
                <a:solidFill>
                  <a:srgbClr val="E2E8F0"/>
                </a:solidFill>
                <a:latin typeface="Segoe UI"/>
              </a:defRPr>
            </a:pPr>
            <a:r>
              <a:t>• Rigorous Zero-Leakage Design: The model receives ONLY video frames during inference. No ground-truth label or text embedding is provided!</a:t>
            </a:r>
            <a:br/>
            <a:r>
              <a:t>• Alignment Mechanism: Uses cosine distance loss during training to align visual space into semantic space.</a:t>
            </a:r>
            <a:br/>
            <a:r>
              <a:t>• Truly Deployable: Validated on 197 held-out test videos, achieving genuine, honest multimodal prediction.</a:t>
            </a:r>
          </a:p>
        </p:txBody>
      </p:sp>
      <p:sp>
        <p:nvSpPr>
          <p:cNvPr id="8" name="Rounded Rectangle 7"/>
          <p:cNvSpPr/>
          <p:nvPr/>
        </p:nvSpPr>
        <p:spPr>
          <a:xfrm>
            <a:off x="731520" y="5440680"/>
            <a:ext cx="10698480" cy="868680"/>
          </a:xfrm>
          <a:prstGeom prst="roundRect">
            <a:avLst/>
          </a:prstGeom>
          <a:solidFill>
            <a:srgbClr val="141E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latin typeface="Segoe UI"/>
              </a:defRPr>
            </a:pPr>
            <a:r>
              <a:t>SCIENTIFIC INTEGRITY PRINCIPLE: "High accuracy is meaningless if the evaluation pipeline leaks ground-truth information. Rigorous ML demands testing only with information available at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QUANTITATIVE EVALUATION</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Experimental Results &amp; Ablation Analysis</a:t>
            </a:r>
          </a:p>
        </p:txBody>
      </p:sp>
      <p:graphicFrame>
        <p:nvGraphicFramePr>
          <p:cNvPr id="4" name="Table 3"/>
          <p:cNvGraphicFramePr>
            <a:graphicFrameLocks noGrp="1"/>
          </p:cNvGraphicFramePr>
          <p:nvPr/>
        </p:nvGraphicFramePr>
        <p:xfrm>
          <a:off x="731520" y="1325880"/>
          <a:ext cx="10698480" cy="2468880"/>
        </p:xfrm>
        <a:graphic>
          <a:graphicData uri="http://schemas.openxmlformats.org/drawingml/2006/table">
            <a:tbl>
              <a:tblPr firstRow="1" bandRow="1">
                <a:tableStyleId>{5C22544A-7EE6-4342-B048-85BDC9FD1C3A}</a:tableStyleId>
              </a:tblPr>
              <a:tblGrid>
                <a:gridCol w="2926080"/>
                <a:gridCol w="1280160"/>
                <a:gridCol w="1645920"/>
                <a:gridCol w="1645920"/>
                <a:gridCol w="1554480"/>
                <a:gridCol w="1645920"/>
              </a:tblGrid>
              <a:tr h="493776">
                <a:tc>
                  <a:txBody>
                    <a:bodyPr/>
                    <a:lstStyle/>
                    <a:p>
                      <a:pPr algn="l">
                        <a:defRPr sz="1100" b="1">
                          <a:solidFill>
                            <a:srgbClr val="06B6D4"/>
                          </a:solidFill>
                          <a:latin typeface="Segoe UI"/>
                        </a:defRPr>
                      </a:pPr>
                      <a:r>
                        <a:t>Model Configuration</a:t>
                      </a:r>
                    </a:p>
                  </a:txBody>
                  <a:tcPr anchor="ctr">
                    <a:solidFill>
                      <a:srgbClr val="0F1E37"/>
                    </a:solidFill>
                  </a:tcPr>
                </a:tc>
                <a:tc>
                  <a:txBody>
                    <a:bodyPr/>
                    <a:lstStyle/>
                    <a:p>
                      <a:pPr algn="ctr">
                        <a:defRPr sz="1100" b="1">
                          <a:solidFill>
                            <a:srgbClr val="06B6D4"/>
                          </a:solidFill>
                          <a:latin typeface="Segoe UI"/>
                        </a:defRPr>
                      </a:pPr>
                      <a:r>
                        <a:t>Feature Dim</a:t>
                      </a:r>
                    </a:p>
                  </a:txBody>
                  <a:tcPr anchor="ctr">
                    <a:solidFill>
                      <a:srgbClr val="0F1E37"/>
                    </a:solidFill>
                  </a:tcPr>
                </a:tc>
                <a:tc>
                  <a:txBody>
                    <a:bodyPr/>
                    <a:lstStyle/>
                    <a:p>
                      <a:pPr algn="ctr">
                        <a:defRPr sz="1100" b="1">
                          <a:solidFill>
                            <a:srgbClr val="06B6D4"/>
                          </a:solidFill>
                          <a:latin typeface="Segoe UI"/>
                        </a:defRPr>
                      </a:pPr>
                      <a:r>
                        <a:t>Label Leakage?</a:t>
                      </a:r>
                    </a:p>
                  </a:txBody>
                  <a:tcPr anchor="ctr">
                    <a:solidFill>
                      <a:srgbClr val="0F1E37"/>
                    </a:solidFill>
                  </a:tcPr>
                </a:tc>
                <a:tc>
                  <a:txBody>
                    <a:bodyPr/>
                    <a:lstStyle/>
                    <a:p>
                      <a:pPr algn="ctr">
                        <a:defRPr sz="1100" b="1">
                          <a:solidFill>
                            <a:srgbClr val="06B6D4"/>
                          </a:solidFill>
                          <a:latin typeface="Segoe UI"/>
                        </a:defRPr>
                      </a:pPr>
                      <a:r>
                        <a:t>Deployable?</a:t>
                      </a:r>
                    </a:p>
                  </a:txBody>
                  <a:tcPr anchor="ctr">
                    <a:solidFill>
                      <a:srgbClr val="0F1E37"/>
                    </a:solidFill>
                  </a:tcPr>
                </a:tc>
                <a:tc>
                  <a:txBody>
                    <a:bodyPr/>
                    <a:lstStyle/>
                    <a:p>
                      <a:pPr algn="ctr">
                        <a:defRPr sz="1100" b="1">
                          <a:solidFill>
                            <a:srgbClr val="06B6D4"/>
                          </a:solidFill>
                          <a:latin typeface="Segoe UI"/>
                        </a:defRPr>
                      </a:pPr>
                      <a:r>
                        <a:t>Test Accuracy</a:t>
                      </a:r>
                    </a:p>
                  </a:txBody>
                  <a:tcPr anchor="ctr">
                    <a:solidFill>
                      <a:srgbClr val="0F1E37"/>
                    </a:solidFill>
                  </a:tcPr>
                </a:tc>
                <a:tc>
                  <a:txBody>
                    <a:bodyPr/>
                    <a:lstStyle/>
                    <a:p>
                      <a:pPr algn="ctr">
                        <a:defRPr sz="1100" b="1">
                          <a:solidFill>
                            <a:srgbClr val="06B6D4"/>
                          </a:solidFill>
                          <a:latin typeface="Segoe UI"/>
                        </a:defRPr>
                      </a:pPr>
                      <a:r>
                        <a:t>Macro F1</a:t>
                      </a:r>
                    </a:p>
                  </a:txBody>
                  <a:tcPr anchor="ctr">
                    <a:solidFill>
                      <a:srgbClr val="0F1E37"/>
                    </a:solidFill>
                  </a:tcPr>
                </a:tc>
              </a:tr>
              <a:tr h="493776">
                <a:tc>
                  <a:txBody>
                    <a:bodyPr/>
                    <a:lstStyle/>
                    <a:p>
                      <a:pPr algn="l">
                        <a:defRPr sz="1100" b="1">
                          <a:solidFill>
                            <a:srgbClr val="FFFFFF"/>
                          </a:solidFill>
                          <a:latin typeface="Segoe UI"/>
                        </a:defRPr>
                      </a:pPr>
                      <a:r>
                        <a:t>Video-Only Baseline (ResNet18 + LogReg)</a:t>
                      </a:r>
                    </a:p>
                  </a:txBody>
                  <a:tcPr anchor="ctr">
                    <a:solidFill>
                      <a:srgbClr val="1E293B"/>
                    </a:solidFill>
                  </a:tcPr>
                </a:tc>
                <a:tc>
                  <a:txBody>
                    <a:bodyPr/>
                    <a:lstStyle/>
                    <a:p>
                      <a:pPr algn="ctr">
                        <a:defRPr sz="1100">
                          <a:solidFill>
                            <a:srgbClr val="E2E8F0"/>
                          </a:solidFill>
                          <a:latin typeface="Segoe UI"/>
                        </a:defRPr>
                      </a:pPr>
                      <a:r>
                        <a:t>512-D</a:t>
                      </a:r>
                    </a:p>
                  </a:txBody>
                  <a:tcPr anchor="ctr">
                    <a:solidFill>
                      <a:srgbClr val="1E293B"/>
                    </a:solidFill>
                  </a:tcPr>
                </a:tc>
                <a:tc>
                  <a:txBody>
                    <a:bodyPr/>
                    <a:lstStyle/>
                    <a:p>
                      <a:pPr algn="ctr">
                        <a:defRPr sz="1100">
                          <a:solidFill>
                            <a:srgbClr val="E2E8F0"/>
                          </a:solidFill>
                          <a:latin typeface="Segoe UI"/>
                        </a:defRPr>
                      </a:pPr>
                      <a:r>
                        <a:t>No Leakage</a:t>
                      </a:r>
                    </a:p>
                  </a:txBody>
                  <a:tcPr anchor="ctr">
                    <a:solidFill>
                      <a:srgbClr val="1E293B"/>
                    </a:solidFill>
                  </a:tcPr>
                </a:tc>
                <a:tc>
                  <a:txBody>
                    <a:bodyPr/>
                    <a:lstStyle/>
                    <a:p>
                      <a:pPr algn="ctr">
                        <a:defRPr sz="1100">
                          <a:solidFill>
                            <a:srgbClr val="E2E8F0"/>
                          </a:solidFill>
                          <a:latin typeface="Segoe UI"/>
                        </a:defRPr>
                      </a:pPr>
                      <a:r>
                        <a:t>✅ Yes</a:t>
                      </a:r>
                    </a:p>
                  </a:txBody>
                  <a:tcPr anchor="ctr">
                    <a:solidFill>
                      <a:srgbClr val="1E293B"/>
                    </a:solidFill>
                  </a:tcPr>
                </a:tc>
                <a:tc>
                  <a:txBody>
                    <a:bodyPr/>
                    <a:lstStyle/>
                    <a:p>
                      <a:pPr algn="ctr">
                        <a:defRPr sz="1100" b="1">
                          <a:solidFill>
                            <a:srgbClr val="10B981"/>
                          </a:solidFill>
                          <a:latin typeface="Segoe UI"/>
                        </a:defRPr>
                      </a:pPr>
                      <a:r>
                        <a:t>93.40%</a:t>
                      </a:r>
                    </a:p>
                  </a:txBody>
                  <a:tcPr anchor="ctr">
                    <a:solidFill>
                      <a:srgbClr val="1E293B"/>
                    </a:solidFill>
                  </a:tcPr>
                </a:tc>
                <a:tc>
                  <a:txBody>
                    <a:bodyPr/>
                    <a:lstStyle/>
                    <a:p>
                      <a:pPr algn="ctr">
                        <a:defRPr sz="1100" b="1">
                          <a:solidFill>
                            <a:srgbClr val="10B981"/>
                          </a:solidFill>
                          <a:latin typeface="Segoe UI"/>
                        </a:defRPr>
                      </a:pPr>
                      <a:r>
                        <a:t>92.77%</a:t>
                      </a:r>
                    </a:p>
                  </a:txBody>
                  <a:tcPr anchor="ctr">
                    <a:solidFill>
                      <a:srgbClr val="1E293B"/>
                    </a:solidFill>
                  </a:tcPr>
                </a:tc>
              </a:tr>
              <a:tr h="493776">
                <a:tc>
                  <a:txBody>
                    <a:bodyPr/>
                    <a:lstStyle/>
                    <a:p>
                      <a:pPr algn="l">
                        <a:defRPr sz="1100" b="1">
                          <a:solidFill>
                            <a:srgbClr val="FFFFFF"/>
                          </a:solidFill>
                          <a:latin typeface="Segoe UI"/>
                        </a:defRPr>
                      </a:pPr>
                      <a:r>
                        <a:t>Text-Only Oracle (Sentence-BERT)</a:t>
                      </a:r>
                    </a:p>
                  </a:txBody>
                  <a:tcPr anchor="ctr">
                    <a:solidFill>
                      <a:srgbClr val="261419"/>
                    </a:solidFill>
                  </a:tcPr>
                </a:tc>
                <a:tc>
                  <a:txBody>
                    <a:bodyPr/>
                    <a:lstStyle/>
                    <a:p>
                      <a:pPr algn="ctr">
                        <a:defRPr sz="1100">
                          <a:solidFill>
                            <a:srgbClr val="E2E8F0"/>
                          </a:solidFill>
                          <a:latin typeface="Segoe UI"/>
                        </a:defRPr>
                      </a:pPr>
                      <a:r>
                        <a:t>384-D</a:t>
                      </a:r>
                    </a:p>
                  </a:txBody>
                  <a:tcPr anchor="ctr">
                    <a:solidFill>
                      <a:srgbClr val="261419"/>
                    </a:solidFill>
                  </a:tcPr>
                </a:tc>
                <a:tc>
                  <a:txBody>
                    <a:bodyPr/>
                    <a:lstStyle/>
                    <a:p>
                      <a:pPr algn="ctr">
                        <a:defRPr sz="1100">
                          <a:solidFill>
                            <a:srgbClr val="E2E8F0"/>
                          </a:solidFill>
                          <a:latin typeface="Segoe UI"/>
                        </a:defRPr>
                      </a:pPr>
                      <a:r>
                        <a:t>⚠️ YES (Oracle)</a:t>
                      </a:r>
                    </a:p>
                  </a:txBody>
                  <a:tcPr anchor="ctr">
                    <a:solidFill>
                      <a:srgbClr val="261419"/>
                    </a:solidFill>
                  </a:tcPr>
                </a:tc>
                <a:tc>
                  <a:txBody>
                    <a:bodyPr/>
                    <a:lstStyle/>
                    <a:p>
                      <a:pPr algn="ctr">
                        <a:defRPr sz="1100">
                          <a:solidFill>
                            <a:srgbClr val="E2E8F0"/>
                          </a:solidFill>
                          <a:latin typeface="Segoe UI"/>
                        </a:defRPr>
                      </a:pPr>
                      <a:r>
                        <a:t>❌ No</a:t>
                      </a:r>
                    </a:p>
                  </a:txBody>
                  <a:tcPr anchor="ctr">
                    <a:solidFill>
                      <a:srgbClr val="261419"/>
                    </a:solidFill>
                  </a:tcPr>
                </a:tc>
                <a:tc>
                  <a:txBody>
                    <a:bodyPr/>
                    <a:lstStyle/>
                    <a:p>
                      <a:pPr algn="ctr">
                        <a:defRPr sz="1100" b="1">
                          <a:solidFill>
                            <a:srgbClr val="EF4444"/>
                          </a:solidFill>
                          <a:latin typeface="Segoe UI"/>
                        </a:defRPr>
                      </a:pPr>
                      <a:r>
                        <a:t>100.00%*</a:t>
                      </a:r>
                    </a:p>
                  </a:txBody>
                  <a:tcPr anchor="ctr">
                    <a:solidFill>
                      <a:srgbClr val="261419"/>
                    </a:solidFill>
                  </a:tcPr>
                </a:tc>
                <a:tc>
                  <a:txBody>
                    <a:bodyPr/>
                    <a:lstStyle/>
                    <a:p>
                      <a:pPr algn="ctr">
                        <a:defRPr sz="1100" b="1">
                          <a:solidFill>
                            <a:srgbClr val="EF4444"/>
                          </a:solidFill>
                          <a:latin typeface="Segoe UI"/>
                        </a:defRPr>
                      </a:pPr>
                      <a:r>
                        <a:t>100.00%*</a:t>
                      </a:r>
                    </a:p>
                  </a:txBody>
                  <a:tcPr anchor="ctr">
                    <a:solidFill>
                      <a:srgbClr val="261419"/>
                    </a:solidFill>
                  </a:tcPr>
                </a:tc>
              </a:tr>
              <a:tr h="493776">
                <a:tc>
                  <a:txBody>
                    <a:bodyPr/>
                    <a:lstStyle/>
                    <a:p>
                      <a:pPr algn="l">
                        <a:defRPr sz="1100" b="1">
                          <a:solidFill>
                            <a:srgbClr val="FFFFFF"/>
                          </a:solidFill>
                          <a:latin typeface="Segoe UI"/>
                        </a:defRPr>
                      </a:pPr>
                      <a:r>
                        <a:t>Oracle Concatenation (Visual + True Text)</a:t>
                      </a:r>
                    </a:p>
                  </a:txBody>
                  <a:tcPr anchor="ctr">
                    <a:solidFill>
                      <a:srgbClr val="261419"/>
                    </a:solidFill>
                  </a:tcPr>
                </a:tc>
                <a:tc>
                  <a:txBody>
                    <a:bodyPr/>
                    <a:lstStyle/>
                    <a:p>
                      <a:pPr algn="ctr">
                        <a:defRPr sz="1100">
                          <a:solidFill>
                            <a:srgbClr val="E2E8F0"/>
                          </a:solidFill>
                          <a:latin typeface="Segoe UI"/>
                        </a:defRPr>
                      </a:pPr>
                      <a:r>
                        <a:t>896-D</a:t>
                      </a:r>
                    </a:p>
                  </a:txBody>
                  <a:tcPr anchor="ctr">
                    <a:solidFill>
                      <a:srgbClr val="261419"/>
                    </a:solidFill>
                  </a:tcPr>
                </a:tc>
                <a:tc>
                  <a:txBody>
                    <a:bodyPr/>
                    <a:lstStyle/>
                    <a:p>
                      <a:pPr algn="ctr">
                        <a:defRPr sz="1100">
                          <a:solidFill>
                            <a:srgbClr val="E2E8F0"/>
                          </a:solidFill>
                          <a:latin typeface="Segoe UI"/>
                        </a:defRPr>
                      </a:pPr>
                      <a:r>
                        <a:t>⚠️ YES (Oracle)</a:t>
                      </a:r>
                    </a:p>
                  </a:txBody>
                  <a:tcPr anchor="ctr">
                    <a:solidFill>
                      <a:srgbClr val="261419"/>
                    </a:solidFill>
                  </a:tcPr>
                </a:tc>
                <a:tc>
                  <a:txBody>
                    <a:bodyPr/>
                    <a:lstStyle/>
                    <a:p>
                      <a:pPr algn="ctr">
                        <a:defRPr sz="1100">
                          <a:solidFill>
                            <a:srgbClr val="E2E8F0"/>
                          </a:solidFill>
                          <a:latin typeface="Segoe UI"/>
                        </a:defRPr>
                      </a:pPr>
                      <a:r>
                        <a:t>❌ No</a:t>
                      </a:r>
                    </a:p>
                  </a:txBody>
                  <a:tcPr anchor="ctr">
                    <a:solidFill>
                      <a:srgbClr val="261419"/>
                    </a:solidFill>
                  </a:tcPr>
                </a:tc>
                <a:tc>
                  <a:txBody>
                    <a:bodyPr/>
                    <a:lstStyle/>
                    <a:p>
                      <a:pPr algn="ctr">
                        <a:defRPr sz="1100" b="1">
                          <a:solidFill>
                            <a:srgbClr val="EF4444"/>
                          </a:solidFill>
                          <a:latin typeface="Segoe UI"/>
                        </a:defRPr>
                      </a:pPr>
                      <a:r>
                        <a:t>100.00%*</a:t>
                      </a:r>
                    </a:p>
                  </a:txBody>
                  <a:tcPr anchor="ctr">
                    <a:solidFill>
                      <a:srgbClr val="261419"/>
                    </a:solidFill>
                  </a:tcPr>
                </a:tc>
                <a:tc>
                  <a:txBody>
                    <a:bodyPr/>
                    <a:lstStyle/>
                    <a:p>
                      <a:pPr algn="ctr">
                        <a:defRPr sz="1100" b="1">
                          <a:solidFill>
                            <a:srgbClr val="EF4444"/>
                          </a:solidFill>
                          <a:latin typeface="Segoe UI"/>
                        </a:defRPr>
                      </a:pPr>
                      <a:r>
                        <a:t>100.00%*</a:t>
                      </a:r>
                    </a:p>
                  </a:txBody>
                  <a:tcPr anchor="ctr">
                    <a:solidFill>
                      <a:srgbClr val="261419"/>
                    </a:solidFill>
                  </a:tcPr>
                </a:tc>
              </a:tr>
              <a:tr h="493776">
                <a:tc>
                  <a:txBody>
                    <a:bodyPr/>
                    <a:lstStyle/>
                    <a:p>
                      <a:pPr algn="l">
                        <a:defRPr sz="1100" b="1">
                          <a:solidFill>
                            <a:srgbClr val="FFFFFF"/>
                          </a:solidFill>
                          <a:latin typeface="Segoe UI"/>
                        </a:defRPr>
                      </a:pPr>
                      <a:r>
                        <a:t>Leakage-Safe Semantic Projection</a:t>
                      </a:r>
                    </a:p>
                  </a:txBody>
                  <a:tcPr anchor="ctr">
                    <a:solidFill>
                      <a:srgbClr val="141C2D"/>
                    </a:solidFill>
                  </a:tcPr>
                </a:tc>
                <a:tc>
                  <a:txBody>
                    <a:bodyPr/>
                    <a:lstStyle/>
                    <a:p>
                      <a:pPr algn="ctr">
                        <a:defRPr sz="1100">
                          <a:solidFill>
                            <a:srgbClr val="E2E8F0"/>
                          </a:solidFill>
                          <a:latin typeface="Segoe UI"/>
                        </a:defRPr>
                      </a:pPr>
                      <a:r>
                        <a:t>384-D</a:t>
                      </a:r>
                    </a:p>
                  </a:txBody>
                  <a:tcPr anchor="ctr">
                    <a:solidFill>
                      <a:srgbClr val="141C2D"/>
                    </a:solidFill>
                  </a:tcPr>
                </a:tc>
                <a:tc>
                  <a:txBody>
                    <a:bodyPr/>
                    <a:lstStyle/>
                    <a:p>
                      <a:pPr algn="ctr">
                        <a:defRPr sz="1100">
                          <a:solidFill>
                            <a:srgbClr val="E2E8F0"/>
                          </a:solidFill>
                          <a:latin typeface="Segoe UI"/>
                        </a:defRPr>
                      </a:pPr>
                      <a:r>
                        <a:t>No Leakage</a:t>
                      </a:r>
                    </a:p>
                  </a:txBody>
                  <a:tcPr anchor="ctr">
                    <a:solidFill>
                      <a:srgbClr val="141C2D"/>
                    </a:solidFill>
                  </a:tcPr>
                </a:tc>
                <a:tc>
                  <a:txBody>
                    <a:bodyPr/>
                    <a:lstStyle/>
                    <a:p>
                      <a:pPr algn="ctr">
                        <a:defRPr sz="1100">
                          <a:solidFill>
                            <a:srgbClr val="E2E8F0"/>
                          </a:solidFill>
                          <a:latin typeface="Segoe UI"/>
                        </a:defRPr>
                      </a:pPr>
                      <a:r>
                        <a:t>✅ Yes</a:t>
                      </a:r>
                    </a:p>
                  </a:txBody>
                  <a:tcPr anchor="ctr">
                    <a:solidFill>
                      <a:srgbClr val="141C2D"/>
                    </a:solidFill>
                  </a:tcPr>
                </a:tc>
                <a:tc>
                  <a:txBody>
                    <a:bodyPr/>
                    <a:lstStyle/>
                    <a:p>
                      <a:pPr algn="ctr">
                        <a:defRPr sz="1100" b="1">
                          <a:solidFill>
                            <a:srgbClr val="10B981"/>
                          </a:solidFill>
                          <a:latin typeface="Segoe UI"/>
                        </a:defRPr>
                      </a:pPr>
                      <a:r>
                        <a:t>87.82%</a:t>
                      </a:r>
                    </a:p>
                  </a:txBody>
                  <a:tcPr anchor="ctr">
                    <a:solidFill>
                      <a:srgbClr val="141C2D"/>
                    </a:solidFill>
                  </a:tcPr>
                </a:tc>
                <a:tc>
                  <a:txBody>
                    <a:bodyPr/>
                    <a:lstStyle/>
                    <a:p>
                      <a:pPr algn="ctr">
                        <a:defRPr sz="1100" b="1">
                          <a:solidFill>
                            <a:srgbClr val="10B981"/>
                          </a:solidFill>
                          <a:latin typeface="Segoe UI"/>
                        </a:defRPr>
                      </a:pPr>
                      <a:r>
                        <a:t>86.39%</a:t>
                      </a:r>
                    </a:p>
                  </a:txBody>
                  <a:tcPr anchor="ctr">
                    <a:solidFill>
                      <a:srgbClr val="141C2D"/>
                    </a:solidFill>
                  </a:tcPr>
                </a:tc>
              </a:tr>
            </a:tbl>
          </a:graphicData>
        </a:graphic>
      </p:graphicFrame>
      <p:sp>
        <p:nvSpPr>
          <p:cNvPr id="5" name="TextBox 4"/>
          <p:cNvSpPr txBox="1"/>
          <p:nvPr/>
        </p:nvSpPr>
        <p:spPr>
          <a:xfrm>
            <a:off x="731520" y="3840480"/>
            <a:ext cx="10698480" cy="365760"/>
          </a:xfrm>
          <a:prstGeom prst="rect">
            <a:avLst/>
          </a:prstGeom>
          <a:noFill/>
        </p:spPr>
        <p:txBody>
          <a:bodyPr wrap="none">
            <a:spAutoFit/>
          </a:bodyPr>
          <a:lstStyle/>
          <a:p>
            <a:pPr>
              <a:defRPr sz="950">
                <a:solidFill>
                  <a:srgbClr val="94A3B8"/>
                </a:solidFill>
                <a:latin typeface="Segoe UI"/>
              </a:defRPr>
            </a:pPr>
            <a:r>
              <a:t>*Note: Top-3 Accuracy, Top-5 Accuracy &amp; Inference Latency: [RESULT NOT AVAILABLE] (strictly omitted per verified repository evidence).</a:t>
            </a:r>
          </a:p>
        </p:txBody>
      </p:sp>
      <p:sp>
        <p:nvSpPr>
          <p:cNvPr id="6" name="Rounded Rectangle 5"/>
          <p:cNvSpPr/>
          <p:nvPr/>
        </p:nvSpPr>
        <p:spPr>
          <a:xfrm>
            <a:off x="731520" y="425196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89120"/>
            <a:ext cx="3154680" cy="1737360"/>
          </a:xfrm>
          <a:prstGeom prst="rect">
            <a:avLst/>
          </a:prstGeom>
          <a:noFill/>
        </p:spPr>
        <p:txBody>
          <a:bodyPr wrap="square">
            <a:spAutoFit/>
          </a:bodyPr>
          <a:lstStyle/>
          <a:p>
            <a:pPr>
              <a:defRPr sz="1100" b="1">
                <a:solidFill>
                  <a:srgbClr val="38BDF8"/>
                </a:solidFill>
                <a:latin typeface="Segoe UI"/>
              </a:defRPr>
            </a:pPr>
            <a:r>
              <a:t>HONEST TRADE-OFF (-5.58%)</a:t>
            </a:r>
          </a:p>
          <a:p>
            <a:pPr>
              <a:spcBef>
                <a:spcPts val="200"/>
              </a:spcBef>
              <a:defRPr sz="1200" b="1">
                <a:solidFill>
                  <a:srgbClr val="FFFFFF"/>
                </a:solidFill>
                <a:latin typeface="Segoe UI"/>
              </a:defRPr>
            </a:pPr>
            <a:r>
              <a:t>Why Baseline is Higher</a:t>
            </a:r>
          </a:p>
          <a:p>
            <a:pPr>
              <a:spcBef>
                <a:spcPts val="400"/>
              </a:spcBef>
              <a:defRPr sz="1000">
                <a:solidFill>
                  <a:srgbClr val="94A3B8"/>
                </a:solidFill>
                <a:latin typeface="Segoe UI"/>
              </a:defRPr>
            </a:pPr>
            <a:r>
              <a:t>The visual baseline operates directly on 512-D visual features, whereas linear projection compresses features into a general 384-D language space without fine-tuning ResNet18.</a:t>
            </a:r>
          </a:p>
        </p:txBody>
      </p:sp>
      <p:sp>
        <p:nvSpPr>
          <p:cNvPr id="8" name="Rounded Rectangle 7"/>
          <p:cNvSpPr/>
          <p:nvPr/>
        </p:nvSpPr>
        <p:spPr>
          <a:xfrm>
            <a:off x="4361688" y="425196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8" y="4389120"/>
            <a:ext cx="3154680" cy="1737360"/>
          </a:xfrm>
          <a:prstGeom prst="rect">
            <a:avLst/>
          </a:prstGeom>
          <a:noFill/>
        </p:spPr>
        <p:txBody>
          <a:bodyPr wrap="square">
            <a:spAutoFit/>
          </a:bodyPr>
          <a:lstStyle/>
          <a:p>
            <a:pPr>
              <a:defRPr sz="1100" b="1">
                <a:solidFill>
                  <a:srgbClr val="38BDF8"/>
                </a:solidFill>
                <a:latin typeface="Segoe UI"/>
              </a:defRPr>
            </a:pPr>
            <a:r>
              <a:t>PRESERVED ZERO-SHOT CAPABILITY</a:t>
            </a:r>
          </a:p>
          <a:p>
            <a:pPr>
              <a:spcBef>
                <a:spcPts val="200"/>
              </a:spcBef>
              <a:defRPr sz="1200" b="1">
                <a:solidFill>
                  <a:srgbClr val="FFFFFF"/>
                </a:solidFill>
                <a:latin typeface="Segoe UI"/>
              </a:defRPr>
            </a:pPr>
            <a:r>
              <a:t>Semantic Flexibility</a:t>
            </a:r>
          </a:p>
          <a:p>
            <a:pPr>
              <a:spcBef>
                <a:spcPts val="400"/>
              </a:spcBef>
              <a:defRPr sz="1000">
                <a:solidFill>
                  <a:srgbClr val="94A3B8"/>
                </a:solidFill>
                <a:latin typeface="Segoe UI"/>
              </a:defRPr>
            </a:pPr>
            <a:r>
              <a:t>Despite the slight drop, the projection model classifies purely by semantic proximity, allowing open-ended prompt matching and zero-shot reasoning without changing architecture.</a:t>
            </a:r>
          </a:p>
        </p:txBody>
      </p:sp>
      <p:sp>
        <p:nvSpPr>
          <p:cNvPr id="10" name="Rounded Rectangle 9"/>
          <p:cNvSpPr/>
          <p:nvPr/>
        </p:nvSpPr>
        <p:spPr>
          <a:xfrm>
            <a:off x="7991856" y="4251960"/>
            <a:ext cx="342900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9016" y="4389120"/>
            <a:ext cx="3154680" cy="1737360"/>
          </a:xfrm>
          <a:prstGeom prst="rect">
            <a:avLst/>
          </a:prstGeom>
          <a:noFill/>
        </p:spPr>
        <p:txBody>
          <a:bodyPr wrap="square">
            <a:spAutoFit/>
          </a:bodyPr>
          <a:lstStyle/>
          <a:p>
            <a:pPr>
              <a:defRPr sz="1100" b="1">
                <a:solidFill>
                  <a:srgbClr val="38BDF8"/>
                </a:solidFill>
                <a:latin typeface="Segoe UI"/>
              </a:defRPr>
            </a:pPr>
            <a:r>
              <a:t>SEMANTIC ERROR ALIGNMENT</a:t>
            </a:r>
          </a:p>
          <a:p>
            <a:pPr>
              <a:spcBef>
                <a:spcPts val="200"/>
              </a:spcBef>
              <a:defRPr sz="1200" b="1">
                <a:solidFill>
                  <a:srgbClr val="FFFFFF"/>
                </a:solidFill>
                <a:latin typeface="Segoe UI"/>
              </a:defRPr>
            </a:pPr>
            <a:r>
              <a:t>Reasoning vs Random Errors</a:t>
            </a:r>
          </a:p>
          <a:p>
            <a:pPr>
              <a:spcBef>
                <a:spcPts val="400"/>
              </a:spcBef>
              <a:defRPr sz="1000">
                <a:solidFill>
                  <a:srgbClr val="94A3B8"/>
                </a:solidFill>
                <a:latin typeface="Segoe UI"/>
              </a:defRPr>
            </a:pPr>
            <a:r>
              <a:t>Projection errors occur between semantically close classes (e.g. Archery ↔ JavelinThrow), proving that errors follow conceptual logic rather than arbitrary classification noise.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DECISION TRANSPARENCY</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Explainable AI &amp; Qualitative Prediction Case Study</a:t>
            </a:r>
          </a:p>
        </p:txBody>
      </p:sp>
      <p:sp>
        <p:nvSpPr>
          <p:cNvPr id="4" name="Rounded Rectangle 3"/>
          <p:cNvSpPr/>
          <p:nvPr/>
        </p:nvSpPr>
        <p:spPr>
          <a:xfrm>
            <a:off x="7315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731520"/>
          </a:xfrm>
          <a:prstGeom prst="rect">
            <a:avLst/>
          </a:prstGeom>
          <a:noFill/>
        </p:spPr>
        <p:txBody>
          <a:bodyPr wrap="square">
            <a:spAutoFit/>
          </a:bodyPr>
          <a:lstStyle/>
          <a:p>
            <a:pPr>
              <a:defRPr sz="1200" b="1">
                <a:solidFill>
                  <a:srgbClr val="06B6D4"/>
                </a:solidFill>
                <a:latin typeface="Segoe UI"/>
              </a:defRPr>
            </a:pPr>
            <a:r>
              <a:t>VISUAL EVIDENCE: SAMPLED FRAMES CONTACT SHEET</a:t>
            </a:r>
          </a:p>
          <a:p>
            <a:pPr>
              <a:spcBef>
                <a:spcPts val="200"/>
              </a:spcBef>
              <a:defRPr sz="1000">
                <a:solidFill>
                  <a:srgbClr val="94A3B8"/>
                </a:solidFill>
                <a:latin typeface="Segoe UI"/>
              </a:defRPr>
            </a:pPr>
            <a:r>
              <a:t>Held-Out Test Video: v_PlayingGuitar_g10_c01.avi (16 sampled frames)</a:t>
            </a:r>
          </a:p>
        </p:txBody>
      </p:sp>
      <p:pic>
        <p:nvPicPr>
          <p:cNvPr id="6" name="Picture 5" descr="playing_guitar_contact_test_contact_sheet.jpg"/>
          <p:cNvPicPr>
            <a:picLocks noChangeAspect="1"/>
          </p:cNvPicPr>
          <p:nvPr/>
        </p:nvPicPr>
        <p:blipFill>
          <a:blip r:embed="rId2"/>
          <a:stretch>
            <a:fillRect/>
          </a:stretch>
        </p:blipFill>
        <p:spPr>
          <a:xfrm>
            <a:off x="914400" y="2148840"/>
            <a:ext cx="4754880" cy="3886200"/>
          </a:xfrm>
          <a:prstGeom prst="rect">
            <a:avLst/>
          </a:prstGeom>
        </p:spPr>
      </p:pic>
      <p:sp>
        <p:nvSpPr>
          <p:cNvPr id="7" name="Rounded Rectangle 6"/>
          <p:cNvSpPr/>
          <p:nvPr/>
        </p:nvSpPr>
        <p:spPr>
          <a:xfrm>
            <a:off x="62179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40"/>
            <a:ext cx="4754880" cy="4663440"/>
          </a:xfrm>
          <a:prstGeom prst="rect">
            <a:avLst/>
          </a:prstGeom>
          <a:noFill/>
        </p:spPr>
        <p:txBody>
          <a:bodyPr wrap="square">
            <a:spAutoFit/>
          </a:bodyPr>
          <a:lstStyle/>
          <a:p>
            <a:pPr>
              <a:defRPr sz="1300" b="1">
                <a:solidFill>
                  <a:srgbClr val="38BDF8"/>
                </a:solidFill>
                <a:latin typeface="Segoe UI"/>
              </a:defRPr>
            </a:pPr>
            <a:r>
              <a:t>STRUCTURED XAI PREDICTION REPORT</a:t>
            </a:r>
          </a:p>
          <a:p>
            <a:pPr>
              <a:spcBef>
                <a:spcPts val="600"/>
              </a:spcBef>
              <a:defRPr sz="1200" b="1">
                <a:solidFill>
                  <a:srgbClr val="10B981"/>
                </a:solidFill>
                <a:latin typeface="Segoe UI"/>
              </a:defRPr>
            </a:pPr>
            <a:r>
              <a:t>Predicted Action: PlayingGuitar   |   Confidence: Moderate</a:t>
            </a:r>
          </a:p>
          <a:p>
            <a:pPr>
              <a:spcBef>
                <a:spcPts val="200"/>
              </a:spcBef>
              <a:defRPr sz="1100">
                <a:solidFill>
                  <a:srgbClr val="FFFFFF"/>
                </a:solidFill>
                <a:latin typeface="Segoe UI"/>
              </a:defRPr>
            </a:pPr>
            <a:r>
              <a:t>Top-1 Cosine Similarity: 0.5230   |   Score Separation: +0.4719 (Clear)</a:t>
            </a:r>
          </a:p>
          <a:p>
            <a:pPr>
              <a:spcBef>
                <a:spcPts val="800"/>
              </a:spcBef>
              <a:defRPr sz="1100" b="1">
                <a:solidFill>
                  <a:srgbClr val="06B6D4"/>
                </a:solidFill>
                <a:latin typeface="Segoe UI"/>
              </a:defRPr>
            </a:pPr>
            <a:r>
              <a:t>TOP-3 RANKED CANDIDATE ACTIONS:</a:t>
            </a:r>
          </a:p>
          <a:p>
            <a:pPr>
              <a:spcBef>
                <a:spcPts val="400"/>
              </a:spcBef>
              <a:defRPr sz="1050">
                <a:solidFill>
                  <a:srgbClr val="E2E8F0"/>
                </a:solidFill>
                <a:latin typeface="Segoe UI"/>
              </a:defRPr>
            </a:pPr>
            <a:r>
              <a:t>1. PlayingGuitar:  0.5230  (Top Match — Clear Lead)</a:t>
            </a:r>
            <a:br/>
            <a:r>
              <a:t>2. Drumming:       0.0511  (Runner-up — Rhythmic Semantics)</a:t>
            </a:r>
            <a:br/>
            <a:r>
              <a:t>3. RopeClimbing:  -0.0851  (Distant Candidate)</a:t>
            </a:r>
          </a:p>
          <a:p>
            <a:pPr>
              <a:spcBef>
                <a:spcPts val="800"/>
              </a:spcBef>
              <a:defRPr sz="1100" b="1">
                <a:solidFill>
                  <a:srgbClr val="38BDF8"/>
                </a:solidFill>
                <a:latin typeface="Segoe UI"/>
              </a:defRPr>
            </a:pPr>
            <a:r>
              <a:t>NATURAL LANGUAGE EXPLANATION:</a:t>
            </a:r>
          </a:p>
          <a:p>
            <a:pPr>
              <a:spcBef>
                <a:spcPts val="400"/>
              </a:spcBef>
              <a:defRPr sz="1050" i="1">
                <a:solidFill>
                  <a:srgbClr val="E2E8F0"/>
                </a:solidFill>
                <a:latin typeface="Segoe UI"/>
              </a:defRPr>
            </a:pPr>
            <a:r>
              <a:t>"The projected semantic representation of the video was most similar to the PlayingGuitar class embedding. Its similarity score of 0.5230 was clearly higher than the next-best class, Drumming, which scored 0.0511."</a:t>
            </a:r>
          </a:p>
          <a:p>
            <a:pPr>
              <a:spcBef>
                <a:spcPts val="800"/>
              </a:spcBef>
              <a:defRPr sz="1100" b="1">
                <a:solidFill>
                  <a:srgbClr val="F59E0B"/>
                </a:solidFill>
                <a:latin typeface="Segoe UI"/>
              </a:defRPr>
            </a:pPr>
            <a:r>
              <a:t>RELIABILITY NOTE:</a:t>
            </a:r>
          </a:p>
          <a:p>
            <a:pPr>
              <a:spcBef>
                <a:spcPts val="400"/>
              </a:spcBef>
              <a:defRPr sz="1000">
                <a:solidFill>
                  <a:srgbClr val="94A3B8"/>
                </a:solidFill>
                <a:latin typeface="Segoe UI"/>
              </a:defRPr>
            </a:pPr>
            <a:r>
              <a:t>"These values are cosine similarity scores, not calibrated probabilities. The top result has a reasonably distinct semantic advantage (+0.4719) over the next candidate."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APPLICATION ENGINEERING</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Interactive Deployment — Streamlit Web Application</a:t>
            </a:r>
          </a:p>
        </p:txBody>
      </p:sp>
      <p:sp>
        <p:nvSpPr>
          <p:cNvPr id="4" name="Rounded Rectangle 3"/>
          <p:cNvSpPr/>
          <p:nvPr/>
        </p:nvSpPr>
        <p:spPr>
          <a:xfrm>
            <a:off x="7315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4663440"/>
          </a:xfrm>
          <a:prstGeom prst="rect">
            <a:avLst/>
          </a:prstGeom>
          <a:noFill/>
        </p:spPr>
        <p:txBody>
          <a:bodyPr wrap="square">
            <a:spAutoFit/>
          </a:bodyPr>
          <a:lstStyle/>
          <a:p>
            <a:pPr>
              <a:defRPr sz="1300" b="1">
                <a:solidFill>
                  <a:srgbClr val="06B6D4"/>
                </a:solidFill>
                <a:latin typeface="Segoe UI"/>
              </a:defRPr>
            </a:pPr>
            <a:r>
              <a:t>STREAMLIT UI &amp; INTERACTIVE PIPELINE</a:t>
            </a:r>
          </a:p>
          <a:p>
            <a:pPr>
              <a:spcBef>
                <a:spcPts val="500"/>
              </a:spcBef>
              <a:defRPr sz="1100" b="1">
                <a:solidFill>
                  <a:srgbClr val="FFFFFF"/>
                </a:solidFill>
                <a:latin typeface="Segoe UI"/>
              </a:defRPr>
            </a:pPr>
            <a:r>
              <a:t>• 1. Video Upload:</a:t>
            </a:r>
          </a:p>
          <a:p>
            <a:pPr>
              <a:spcBef>
                <a:spcPts val="100"/>
              </a:spcBef>
              <a:defRPr sz="1000">
                <a:solidFill>
                  <a:srgbClr val="E2E8F0"/>
                </a:solidFill>
                <a:latin typeface="Segoe UI"/>
              </a:defRPr>
            </a:pPr>
            <a:r>
              <a:t>  Supports .mp4, .avi, .mov, and .mkv video formats.</a:t>
            </a:r>
          </a:p>
          <a:p>
            <a:pPr>
              <a:spcBef>
                <a:spcPts val="500"/>
              </a:spcBef>
              <a:defRPr sz="1100" b="1">
                <a:solidFill>
                  <a:srgbClr val="FFFFFF"/>
                </a:solidFill>
                <a:latin typeface="Segoe UI"/>
              </a:defRPr>
            </a:pPr>
            <a:r>
              <a:t>• 2. Interactive Configuration:</a:t>
            </a:r>
          </a:p>
          <a:p>
            <a:pPr>
              <a:spcBef>
                <a:spcPts val="100"/>
              </a:spcBef>
              <a:defRPr sz="1000">
                <a:solidFill>
                  <a:srgbClr val="E2E8F0"/>
                </a:solidFill>
                <a:latin typeface="Segoe UI"/>
              </a:defRPr>
            </a:pPr>
            <a:r>
              <a:t>  Sidebar sliders for Top-K candidates (1–9) and frame sampling (4–32).</a:t>
            </a:r>
          </a:p>
          <a:p>
            <a:pPr>
              <a:spcBef>
                <a:spcPts val="500"/>
              </a:spcBef>
              <a:defRPr sz="1100" b="1">
                <a:solidFill>
                  <a:srgbClr val="FFFFFF"/>
                </a:solidFill>
                <a:latin typeface="Segoe UI"/>
              </a:defRPr>
            </a:pPr>
            <a:r>
              <a:t>• 3. Automated Execution:</a:t>
            </a:r>
          </a:p>
          <a:p>
            <a:pPr>
              <a:spcBef>
                <a:spcPts val="100"/>
              </a:spcBef>
              <a:defRPr sz="1000">
                <a:solidFill>
                  <a:srgbClr val="E2E8F0"/>
                </a:solidFill>
                <a:latin typeface="Segoe UI"/>
              </a:defRPr>
            </a:pPr>
            <a:r>
              <a:t>  OpenCV sampling → ResNet18 extraction → Semantic projection.</a:t>
            </a:r>
          </a:p>
          <a:p>
            <a:pPr>
              <a:spcBef>
                <a:spcPts val="500"/>
              </a:spcBef>
              <a:defRPr sz="1100" b="1">
                <a:solidFill>
                  <a:srgbClr val="FFFFFF"/>
                </a:solidFill>
                <a:latin typeface="Segoe UI"/>
              </a:defRPr>
            </a:pPr>
            <a:r>
              <a:t>• 4. Explainable Output Card:</a:t>
            </a:r>
          </a:p>
          <a:p>
            <a:pPr>
              <a:spcBef>
                <a:spcPts val="100"/>
              </a:spcBef>
              <a:defRPr sz="1000">
                <a:solidFill>
                  <a:srgbClr val="E2E8F0"/>
                </a:solidFill>
                <a:latin typeface="Segoe UI"/>
              </a:defRPr>
            </a:pPr>
            <a:r>
              <a:t>  Predicted action, confidence level badge, and score separation.</a:t>
            </a:r>
          </a:p>
          <a:p>
            <a:pPr>
              <a:spcBef>
                <a:spcPts val="500"/>
              </a:spcBef>
              <a:defRPr sz="1100" b="1">
                <a:solidFill>
                  <a:srgbClr val="FFFFFF"/>
                </a:solidFill>
                <a:latin typeface="Segoe UI"/>
              </a:defRPr>
            </a:pPr>
            <a:r>
              <a:t>• 5. Semantic Proximity Ranking:</a:t>
            </a:r>
          </a:p>
          <a:p>
            <a:pPr>
              <a:spcBef>
                <a:spcPts val="100"/>
              </a:spcBef>
              <a:defRPr sz="1000">
                <a:solidFill>
                  <a:srgbClr val="E2E8F0"/>
                </a:solidFill>
                <a:latin typeface="Segoe UI"/>
              </a:defRPr>
            </a:pPr>
            <a:r>
              <a:t>  Top-K bar charts &amp; natural-language justification.</a:t>
            </a:r>
          </a:p>
          <a:p>
            <a:pPr>
              <a:spcBef>
                <a:spcPts val="500"/>
              </a:spcBef>
              <a:defRPr sz="1100" b="1">
                <a:solidFill>
                  <a:srgbClr val="FFFFFF"/>
                </a:solidFill>
                <a:latin typeface="Segoe UI"/>
              </a:defRPr>
            </a:pPr>
            <a:r>
              <a:t>• 6. Downloadable Artifacts:</a:t>
            </a:r>
          </a:p>
          <a:p>
            <a:pPr>
              <a:spcBef>
                <a:spcPts val="100"/>
              </a:spcBef>
              <a:defRPr sz="1000">
                <a:solidFill>
                  <a:srgbClr val="E2E8F0"/>
                </a:solidFill>
                <a:latin typeface="Segoe UI"/>
              </a:defRPr>
            </a:pPr>
            <a:r>
              <a:t>  Machine-readable JSON reports &amp; visual frame contact sheets.</a:t>
            </a:r>
          </a:p>
        </p:txBody>
      </p:sp>
      <p:sp>
        <p:nvSpPr>
          <p:cNvPr id="6" name="Rounded Rectangle 5"/>
          <p:cNvSpPr/>
          <p:nvPr/>
        </p:nvSpPr>
        <p:spPr>
          <a:xfrm>
            <a:off x="6217920" y="1325880"/>
            <a:ext cx="5120640"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754880" cy="4663440"/>
          </a:xfrm>
          <a:prstGeom prst="rect">
            <a:avLst/>
          </a:prstGeom>
          <a:noFill/>
        </p:spPr>
        <p:txBody>
          <a:bodyPr wrap="square">
            <a:spAutoFit/>
          </a:bodyPr>
          <a:lstStyle/>
          <a:p>
            <a:pPr>
              <a:defRPr sz="1300" b="1">
                <a:solidFill>
                  <a:srgbClr val="38BDF8"/>
                </a:solidFill>
                <a:latin typeface="Segoe UI"/>
              </a:defRPr>
            </a:pPr>
            <a:r>
              <a:t>MODULAR TECHNOLOGY STACK</a:t>
            </a:r>
          </a:p>
          <a:p>
            <a:pPr>
              <a:spcBef>
                <a:spcPts val="400"/>
              </a:spcBef>
              <a:defRPr sz="1100" b="1">
                <a:solidFill>
                  <a:srgbClr val="FFFFFF"/>
                </a:solidFill>
                <a:latin typeface="Segoe UI"/>
              </a:defRPr>
            </a:pPr>
            <a:r>
              <a:t>• Python 3.12 &amp; PyTorch 2.13:</a:t>
            </a:r>
          </a:p>
          <a:p>
            <a:pPr>
              <a:spcBef>
                <a:spcPts val="100"/>
              </a:spcBef>
              <a:defRPr sz="1000">
                <a:solidFill>
                  <a:srgbClr val="94A3B8"/>
                </a:solidFill>
                <a:latin typeface="Segoe UI"/>
              </a:defRPr>
            </a:pPr>
            <a:r>
              <a:t>  Deep learning backbone, tensor processing, and projection model execution.</a:t>
            </a:r>
          </a:p>
          <a:p>
            <a:pPr>
              <a:spcBef>
                <a:spcPts val="400"/>
              </a:spcBef>
              <a:defRPr sz="1100" b="1">
                <a:solidFill>
                  <a:srgbClr val="FFFFFF"/>
                </a:solidFill>
                <a:latin typeface="Segoe UI"/>
              </a:defRPr>
            </a:pPr>
            <a:r>
              <a:t>• Torchvision &amp; ResNet18:</a:t>
            </a:r>
          </a:p>
          <a:p>
            <a:pPr>
              <a:spcBef>
                <a:spcPts val="100"/>
              </a:spcBef>
              <a:defRPr sz="1000">
                <a:solidFill>
                  <a:srgbClr val="94A3B8"/>
                </a:solidFill>
                <a:latin typeface="Segoe UI"/>
              </a:defRPr>
            </a:pPr>
            <a:r>
              <a:t>  Pretrained CNN feature extraction (512-D ImageNet visual representation).</a:t>
            </a:r>
          </a:p>
          <a:p>
            <a:pPr>
              <a:spcBef>
                <a:spcPts val="400"/>
              </a:spcBef>
              <a:defRPr sz="1100" b="1">
                <a:solidFill>
                  <a:srgbClr val="FFFFFF"/>
                </a:solidFill>
                <a:latin typeface="Segoe UI"/>
              </a:defRPr>
            </a:pPr>
            <a:r>
              <a:t>• Sentence-Transformers:</a:t>
            </a:r>
          </a:p>
          <a:p>
            <a:pPr>
              <a:spcBef>
                <a:spcPts val="100"/>
              </a:spcBef>
              <a:defRPr sz="1000">
                <a:solidFill>
                  <a:srgbClr val="94A3B8"/>
                </a:solidFill>
                <a:latin typeface="Segoe UI"/>
              </a:defRPr>
            </a:pPr>
            <a:r>
              <a:t>  Sentence-BERT (all-MiniLM-L6-v2) for 384-D semantic prompt encoding.</a:t>
            </a:r>
          </a:p>
          <a:p>
            <a:pPr>
              <a:spcBef>
                <a:spcPts val="400"/>
              </a:spcBef>
              <a:defRPr sz="1100" b="1">
                <a:solidFill>
                  <a:srgbClr val="FFFFFF"/>
                </a:solidFill>
                <a:latin typeface="Segoe UI"/>
              </a:defRPr>
            </a:pPr>
            <a:r>
              <a:t>• OpenCV (cv2):</a:t>
            </a:r>
          </a:p>
          <a:p>
            <a:pPr>
              <a:spcBef>
                <a:spcPts val="100"/>
              </a:spcBef>
              <a:defRPr sz="1000">
                <a:solidFill>
                  <a:srgbClr val="94A3B8"/>
                </a:solidFill>
                <a:latin typeface="Segoe UI"/>
              </a:defRPr>
            </a:pPr>
            <a:r>
              <a:t>  Fast video decoding, uniform temporal frame sampling, and contact sheet generation.</a:t>
            </a:r>
          </a:p>
          <a:p>
            <a:pPr>
              <a:spcBef>
                <a:spcPts val="400"/>
              </a:spcBef>
              <a:defRPr sz="1100" b="1">
                <a:solidFill>
                  <a:srgbClr val="FFFFFF"/>
                </a:solidFill>
                <a:latin typeface="Segoe UI"/>
              </a:defRPr>
            </a:pPr>
            <a:r>
              <a:t>• Scikit-Learn:</a:t>
            </a:r>
          </a:p>
          <a:p>
            <a:pPr>
              <a:spcBef>
                <a:spcPts val="100"/>
              </a:spcBef>
              <a:defRPr sz="1000">
                <a:solidFill>
                  <a:srgbClr val="94A3B8"/>
                </a:solidFill>
                <a:latin typeface="Segoe UI"/>
              </a:defRPr>
            </a:pPr>
            <a:r>
              <a:t>  StandardScaler feature normalization and baseline Logistic Regression models.</a:t>
            </a:r>
          </a:p>
          <a:p>
            <a:pPr>
              <a:spcBef>
                <a:spcPts val="400"/>
              </a:spcBef>
              <a:defRPr sz="1100" b="1">
                <a:solidFill>
                  <a:srgbClr val="FFFFFF"/>
                </a:solidFill>
                <a:latin typeface="Segoe UI"/>
              </a:defRPr>
            </a:pPr>
            <a:r>
              <a:t>• Streamlit Web Framework:</a:t>
            </a:r>
          </a:p>
          <a:p>
            <a:pPr>
              <a:spcBef>
                <a:spcPts val="100"/>
              </a:spcBef>
              <a:defRPr sz="1000">
                <a:solidFill>
                  <a:srgbClr val="94A3B8"/>
                </a:solidFill>
                <a:latin typeface="Segoe UI"/>
              </a:defRPr>
            </a:pPr>
            <a:r>
              <a:t>  Interactive, reactive web interface and visualization dashboard.</a:t>
            </a:r>
          </a:p>
          <a:p>
            <a:pPr>
              <a:spcBef>
                <a:spcPts val="400"/>
              </a:spcBef>
              <a:defRPr sz="1100" b="1">
                <a:solidFill>
                  <a:srgbClr val="FFFFFF"/>
                </a:solidFill>
                <a:latin typeface="Segoe UI"/>
              </a:defRPr>
            </a:pPr>
            <a:r>
              <a:t>• Git &amp; GitHub:</a:t>
            </a:r>
          </a:p>
          <a:p>
            <a:pPr>
              <a:spcBef>
                <a:spcPts val="100"/>
              </a:spcBef>
              <a:defRPr sz="1000">
                <a:solidFill>
                  <a:srgbClr val="94A3B8"/>
                </a:solidFill>
                <a:latin typeface="Segoe UI"/>
              </a:defRPr>
            </a:pPr>
            <a:r>
              <a:t>  Version control, experiment tracking, and open-source reproducibility.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000" b="1">
                <a:solidFill>
                  <a:srgbClr val="06B6D4"/>
                </a:solidFill>
                <a:latin typeface="Segoe UI"/>
              </a:defRPr>
            </a:pPr>
            <a:r>
              <a:t>PROJECT SUMMARY</a:t>
            </a:r>
          </a:p>
        </p:txBody>
      </p:sp>
      <p:sp>
        <p:nvSpPr>
          <p:cNvPr id="3" name="TextBox 2"/>
          <p:cNvSpPr txBox="1"/>
          <p:nvPr/>
        </p:nvSpPr>
        <p:spPr>
          <a:xfrm>
            <a:off x="731520" y="621792"/>
            <a:ext cx="10698480" cy="594360"/>
          </a:xfrm>
          <a:prstGeom prst="rect">
            <a:avLst/>
          </a:prstGeom>
          <a:noFill/>
        </p:spPr>
        <p:txBody>
          <a:bodyPr wrap="square" lIns="0" tIns="0" rIns="0" bIns="0">
            <a:spAutoFit/>
          </a:bodyPr>
          <a:lstStyle/>
          <a:p>
            <a:pPr>
              <a:defRPr sz="2200" b="1">
                <a:solidFill>
                  <a:srgbClr val="FFFFFF"/>
                </a:solidFill>
                <a:latin typeface="Segoe UI"/>
              </a:defRPr>
            </a:pPr>
            <a:r>
              <a:t>Conclusion, Limitations &amp; Future Roadmap</a:t>
            </a:r>
          </a:p>
        </p:txBody>
      </p:sp>
      <p:sp>
        <p:nvSpPr>
          <p:cNvPr id="4" name="Rounded Rectangle 3"/>
          <p:cNvSpPr/>
          <p:nvPr/>
        </p:nvSpPr>
        <p:spPr>
          <a:xfrm>
            <a:off x="731520" y="1325880"/>
            <a:ext cx="34290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3154680" cy="3840480"/>
          </a:xfrm>
          <a:prstGeom prst="rect">
            <a:avLst/>
          </a:prstGeom>
          <a:noFill/>
        </p:spPr>
        <p:txBody>
          <a:bodyPr wrap="square">
            <a:spAutoFit/>
          </a:bodyPr>
          <a:lstStyle/>
          <a:p>
            <a:pPr>
              <a:defRPr sz="1200" b="1">
                <a:solidFill>
                  <a:srgbClr val="10B981"/>
                </a:solidFill>
                <a:latin typeface="Segoe UI"/>
              </a:defRPr>
            </a:pPr>
            <a:r>
              <a:t>PROJECT CONTRIBUTIONS</a:t>
            </a:r>
          </a:p>
          <a:p>
            <a:pPr>
              <a:spcBef>
                <a:spcPts val="600"/>
              </a:spcBef>
              <a:defRPr sz="1050">
                <a:solidFill>
                  <a:srgbClr val="E2E8F0"/>
                </a:solidFill>
                <a:latin typeface="Segoe UI"/>
              </a:defRPr>
            </a:pPr>
            <a:r>
              <a:t>• End-to-End Multimodal System: Successfully bridged CNN video features with Sentence-BERT language representations.</a:t>
            </a:r>
          </a:p>
          <a:p>
            <a:pPr>
              <a:spcBef>
                <a:spcPts val="600"/>
              </a:spcBef>
              <a:defRPr sz="1050">
                <a:solidFill>
                  <a:srgbClr val="E2E8F0"/>
                </a:solidFill>
                <a:latin typeface="Segoe UI"/>
              </a:defRPr>
            </a:pPr>
            <a:r>
              <a:t>• Methodological Rigor: Identified and eliminated label leakage, demonstrating honest 87.82% deployable test accuracy.</a:t>
            </a:r>
          </a:p>
          <a:p>
            <a:pPr>
              <a:spcBef>
                <a:spcPts val="600"/>
              </a:spcBef>
              <a:defRPr sz="1050">
                <a:solidFill>
                  <a:srgbClr val="E2E8F0"/>
                </a:solidFill>
                <a:latin typeface="Segoe UI"/>
              </a:defRPr>
            </a:pPr>
            <a:r>
              <a:t>• Explainable Predictions: Created structured XAI reports with similarity ranking, score separation, and confidence notes.</a:t>
            </a:r>
          </a:p>
          <a:p>
            <a:pPr>
              <a:spcBef>
                <a:spcPts val="600"/>
              </a:spcBef>
              <a:defRPr sz="1050">
                <a:solidFill>
                  <a:srgbClr val="E2E8F0"/>
                </a:solidFill>
                <a:latin typeface="Segoe UI"/>
              </a:defRPr>
            </a:pPr>
            <a:r>
              <a:t>• Production Web App: Deployed interactive Streamlit interface for demonstration and testing.</a:t>
            </a:r>
          </a:p>
        </p:txBody>
      </p:sp>
      <p:sp>
        <p:nvSpPr>
          <p:cNvPr id="6" name="Rounded Rectangle 5"/>
          <p:cNvSpPr/>
          <p:nvPr/>
        </p:nvSpPr>
        <p:spPr>
          <a:xfrm>
            <a:off x="4361688" y="1325880"/>
            <a:ext cx="34290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98848" y="1463040"/>
            <a:ext cx="3154680" cy="3840480"/>
          </a:xfrm>
          <a:prstGeom prst="rect">
            <a:avLst/>
          </a:prstGeom>
          <a:noFill/>
        </p:spPr>
        <p:txBody>
          <a:bodyPr wrap="square">
            <a:spAutoFit/>
          </a:bodyPr>
          <a:lstStyle/>
          <a:p>
            <a:pPr>
              <a:defRPr sz="1200" b="1">
                <a:solidFill>
                  <a:srgbClr val="F59E0B"/>
                </a:solidFill>
                <a:latin typeface="Segoe UI"/>
              </a:defRPr>
            </a:pPr>
            <a:r>
              <a:t>PROJECT LIMITATIONS</a:t>
            </a:r>
          </a:p>
          <a:p>
            <a:pPr>
              <a:spcBef>
                <a:spcPts val="600"/>
              </a:spcBef>
              <a:defRPr sz="1050">
                <a:solidFill>
                  <a:srgbClr val="E2E8F0"/>
                </a:solidFill>
                <a:latin typeface="Segoe UI"/>
              </a:defRPr>
            </a:pPr>
            <a:r>
              <a:t>• Dataset Subset: Evaluated on 9 curated classes of UCF101 rather than the full 101-class distribution.</a:t>
            </a:r>
          </a:p>
          <a:p>
            <a:pPr>
              <a:spcBef>
                <a:spcPts val="600"/>
              </a:spcBef>
              <a:defRPr sz="1050">
                <a:solidFill>
                  <a:srgbClr val="E2E8F0"/>
                </a:solidFill>
                <a:latin typeface="Segoe UI"/>
              </a:defRPr>
            </a:pPr>
            <a:r>
              <a:t>• Mean Pooling Limitation: Frame averaging discards temporal ordering, motion speed, and phase transitions.</a:t>
            </a:r>
          </a:p>
          <a:p>
            <a:pPr>
              <a:spcBef>
                <a:spcPts val="600"/>
              </a:spcBef>
              <a:defRPr sz="1050">
                <a:solidFill>
                  <a:srgbClr val="E2E8F0"/>
                </a:solidFill>
                <a:latin typeface="Segoe UI"/>
              </a:defRPr>
            </a:pPr>
            <a:r>
              <a:t>• Linear Projection: A single linear layer limits complex nonlinear cross-modal alignment.</a:t>
            </a:r>
          </a:p>
          <a:p>
            <a:pPr>
              <a:spcBef>
                <a:spcPts val="600"/>
              </a:spcBef>
              <a:defRPr sz="1050">
                <a:solidFill>
                  <a:srgbClr val="E2E8F0"/>
                </a:solidFill>
                <a:latin typeface="Segoe UI"/>
              </a:defRPr>
            </a:pPr>
            <a:r>
              <a:t>• Uncalibrated Scores: Cosine similarity provides relative rankings rather than calibrated Bayesian probabilities.</a:t>
            </a:r>
          </a:p>
        </p:txBody>
      </p:sp>
      <p:sp>
        <p:nvSpPr>
          <p:cNvPr id="8" name="Rounded Rectangle 7"/>
          <p:cNvSpPr/>
          <p:nvPr/>
        </p:nvSpPr>
        <p:spPr>
          <a:xfrm>
            <a:off x="7991856" y="1325880"/>
            <a:ext cx="342900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9016" y="1463040"/>
            <a:ext cx="3154680" cy="3840480"/>
          </a:xfrm>
          <a:prstGeom prst="rect">
            <a:avLst/>
          </a:prstGeom>
          <a:noFill/>
        </p:spPr>
        <p:txBody>
          <a:bodyPr wrap="square">
            <a:spAutoFit/>
          </a:bodyPr>
          <a:lstStyle/>
          <a:p>
            <a:pPr>
              <a:defRPr sz="1200" b="1">
                <a:solidFill>
                  <a:srgbClr val="38BDF8"/>
                </a:solidFill>
                <a:latin typeface="Segoe UI"/>
              </a:defRPr>
            </a:pPr>
            <a:r>
              <a:t>FUTURE EXTENSIONS</a:t>
            </a:r>
          </a:p>
          <a:p>
            <a:pPr>
              <a:spcBef>
                <a:spcPts val="600"/>
              </a:spcBef>
              <a:defRPr sz="1050">
                <a:solidFill>
                  <a:srgbClr val="E2E8F0"/>
                </a:solidFill>
                <a:latin typeface="Segoe UI"/>
              </a:defRPr>
            </a:pPr>
            <a:r>
              <a:t>• Video Transformers: Integrate TimeSformer or Video Swin Transformer for rich temporal dynamics modeling.</a:t>
            </a:r>
          </a:p>
          <a:p>
            <a:pPr>
              <a:spcBef>
                <a:spcPts val="600"/>
              </a:spcBef>
              <a:defRPr sz="1050">
                <a:solidFill>
                  <a:srgbClr val="E2E8F0"/>
                </a:solidFill>
                <a:latin typeface="Segoe UI"/>
              </a:defRPr>
            </a:pPr>
            <a:r>
              <a:t>• Foundation VLM Models: Explore zero-shot action recognition using Video-CLIP or X-CLIP architectures.</a:t>
            </a:r>
          </a:p>
          <a:p>
            <a:pPr>
              <a:spcBef>
                <a:spcPts val="600"/>
              </a:spcBef>
              <a:defRPr sz="1050">
                <a:solidFill>
                  <a:srgbClr val="E2E8F0"/>
                </a:solidFill>
                <a:latin typeface="Segoe UI"/>
              </a:defRPr>
            </a:pPr>
            <a:r>
              <a:t>• Dataset Scaling: Expand evaluation to full UCF101, HMDB51, and Kinetics-400 benchmarks.</a:t>
            </a:r>
          </a:p>
          <a:p>
            <a:pPr>
              <a:spcBef>
                <a:spcPts val="600"/>
              </a:spcBef>
              <a:defRPr sz="1050">
                <a:solidFill>
                  <a:srgbClr val="E2E8F0"/>
                </a:solidFill>
                <a:latin typeface="Segoe UI"/>
              </a:defRPr>
            </a:pPr>
            <a:r>
              <a:t>• Real-Time Edge Deployment: Optimize pipeline for live webcam streams and cloud containerization.</a:t>
            </a:r>
          </a:p>
        </p:txBody>
      </p:sp>
      <p:sp>
        <p:nvSpPr>
          <p:cNvPr id="10" name="Rounded Rectangle 9"/>
          <p:cNvSpPr/>
          <p:nvPr/>
        </p:nvSpPr>
        <p:spPr>
          <a:xfrm>
            <a:off x="731520" y="5577840"/>
            <a:ext cx="10698480" cy="777240"/>
          </a:xfrm>
          <a:prstGeom prst="roundRect">
            <a:avLst/>
          </a:prstGeom>
          <a:solidFill>
            <a:srgbClr val="141E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B6D4"/>
                </a:solidFill>
                <a:latin typeface="Segoe UI"/>
              </a:defRPr>
            </a:pPr>
            <a:r>
              <a:t>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