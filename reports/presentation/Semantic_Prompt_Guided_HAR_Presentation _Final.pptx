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60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un Kalotra" userId="2e83e3cc090373f4" providerId="LiveId" clId="{0588A727-7DCC-4B66-BB1B-CBF38B88C28A}"/>
    <pc:docChg chg="undo custSel modSld">
      <pc:chgData name="Varun Kalotra" userId="2e83e3cc090373f4" providerId="LiveId" clId="{0588A727-7DCC-4B66-BB1B-CBF38B88C28A}" dt="2026-08-20T05:13:15.961" v="28" actId="1076"/>
      <pc:docMkLst>
        <pc:docMk/>
      </pc:docMkLst>
      <pc:sldChg chg="modSp mod">
        <pc:chgData name="Varun Kalotra" userId="2e83e3cc090373f4" providerId="LiveId" clId="{0588A727-7DCC-4B66-BB1B-CBF38B88C28A}" dt="2026-08-20T05:10:51.788" v="1" actId="1076"/>
        <pc:sldMkLst>
          <pc:docMk/>
          <pc:sldMk cId="0" sldId="258"/>
        </pc:sldMkLst>
        <pc:spChg chg="mod">
          <ac:chgData name="Varun Kalotra" userId="2e83e3cc090373f4" providerId="LiveId" clId="{0588A727-7DCC-4B66-BB1B-CBF38B88C28A}" dt="2026-08-20T05:10:51.788" v="1" actId="1076"/>
          <ac:spMkLst>
            <pc:docMk/>
            <pc:sldMk cId="0" sldId="258"/>
            <ac:spMk id="47" creationId="{00000000-0000-0000-0000-000000000000}"/>
          </ac:spMkLst>
        </pc:spChg>
      </pc:sldChg>
      <pc:sldChg chg="addSp delSp modSp mod">
        <pc:chgData name="Varun Kalotra" userId="2e83e3cc090373f4" providerId="LiveId" clId="{0588A727-7DCC-4B66-BB1B-CBF38B88C28A}" dt="2026-08-20T05:13:15.961" v="28" actId="1076"/>
        <pc:sldMkLst>
          <pc:docMk/>
          <pc:sldMk cId="0" sldId="259"/>
        </pc:sldMkLst>
        <pc:spChg chg="mod">
          <ac:chgData name="Varun Kalotra" userId="2e83e3cc090373f4" providerId="LiveId" clId="{0588A727-7DCC-4B66-BB1B-CBF38B88C28A}" dt="2026-08-20T05:12:05.744" v="16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Varun Kalotra" userId="2e83e3cc090373f4" providerId="LiveId" clId="{0588A727-7DCC-4B66-BB1B-CBF38B88C28A}" dt="2026-08-20T05:11:37.008" v="9" actId="14100"/>
          <ac:spMkLst>
            <pc:docMk/>
            <pc:sldMk cId="0" sldId="259"/>
            <ac:spMk id="14" creationId="{00000000-0000-0000-0000-000000000000}"/>
          </ac:spMkLst>
        </pc:spChg>
        <pc:spChg chg="del">
          <ac:chgData name="Varun Kalotra" userId="2e83e3cc090373f4" providerId="LiveId" clId="{0588A727-7DCC-4B66-BB1B-CBF38B88C28A}" dt="2026-08-20T05:11:41.712" v="10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Varun Kalotra" userId="2e83e3cc090373f4" providerId="LiveId" clId="{0588A727-7DCC-4B66-BB1B-CBF38B88C28A}" dt="2026-08-20T05:11:03.304" v="3" actId="478"/>
          <ac:spMkLst>
            <pc:docMk/>
            <pc:sldMk cId="0" sldId="259"/>
            <ac:spMk id="19" creationId="{00000000-0000-0000-0000-000000000000}"/>
          </ac:spMkLst>
        </pc:spChg>
        <pc:spChg chg="mod">
          <ac:chgData name="Varun Kalotra" userId="2e83e3cc090373f4" providerId="LiveId" clId="{0588A727-7DCC-4B66-BB1B-CBF38B88C28A}" dt="2026-08-20T05:13:15.961" v="28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Varun Kalotra" userId="2e83e3cc090373f4" providerId="LiveId" clId="{0588A727-7DCC-4B66-BB1B-CBF38B88C28A}" dt="2026-08-20T05:12:21.476" v="18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Varun Kalotra" userId="2e83e3cc090373f4" providerId="LiveId" clId="{0588A727-7DCC-4B66-BB1B-CBF38B88C28A}" dt="2026-08-20T05:12:39.304" v="22" actId="14100"/>
          <ac:spMkLst>
            <pc:docMk/>
            <pc:sldMk cId="0" sldId="259"/>
            <ac:spMk id="35" creationId="{2737D4FF-265D-8034-C9DF-0C43A66C2380}"/>
          </ac:spMkLst>
        </pc:spChg>
        <pc:spChg chg="add mod">
          <ac:chgData name="Varun Kalotra" userId="2e83e3cc090373f4" providerId="LiveId" clId="{0588A727-7DCC-4B66-BB1B-CBF38B88C28A}" dt="2026-08-20T05:13:03.117" v="27" actId="14100"/>
          <ac:spMkLst>
            <pc:docMk/>
            <pc:sldMk cId="0" sldId="259"/>
            <ac:spMk id="37" creationId="{EC5F742F-42BF-0524-D33F-2889CFD2C1F1}"/>
          </ac:spMkLst>
        </pc:spChg>
        <pc:spChg chg="add mod">
          <ac:chgData name="Varun Kalotra" userId="2e83e3cc090373f4" providerId="LiveId" clId="{0588A727-7DCC-4B66-BB1B-CBF38B88C28A}" dt="2026-08-20T05:12:57.820" v="26" actId="14100"/>
          <ac:spMkLst>
            <pc:docMk/>
            <pc:sldMk cId="0" sldId="259"/>
            <ac:spMk id="39" creationId="{75D7ED8B-809C-A1A4-43CB-25AC47F49E73}"/>
          </ac:spMkLst>
        </pc:spChg>
        <pc:picChg chg="mod">
          <ac:chgData name="Varun Kalotra" userId="2e83e3cc090373f4" providerId="LiveId" clId="{0588A727-7DCC-4B66-BB1B-CBF38B88C28A}" dt="2026-08-20T05:12:51.429" v="25" actId="1076"/>
          <ac:picMkLst>
            <pc:docMk/>
            <pc:sldMk cId="0" sldId="259"/>
            <ac:picMk id="2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9868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panel. State the project title clearly and slowly. Introduce yourself, your guide, department, and college. Set expectations: a 10-12 minute walkthrough of a complete vision-language action recognition pipeline, from dataset to deployment. Keep energy calm and confident — this is a technical opening, not a sales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motivation: manual review of video is slow and expensive. Human action recognition automates this, and pairing it with language/semantic understanding lets the system reason about actions in a richer way than plain class IDs. Walk through the four application areas briefly, then land on the three project objectives — building the pipeline, fusing modalities, testing rigorously for leakage, and shipping a usable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dataset: UCF101, narrowed to 9 visually and semantically distinct action classes for a focused, well-controlled study. Emphasize the group-safe split — videos are split by group/source, not by frame, so no clip leaks between train and test. Then walk the five-stage pipeline left to right: raw video, frame extraction, the dataset split, feature extraction, and finally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two parallel branches: the visual branch (ResNet18 to visual features) and the language branch (Sentence-BERT to semantic space). Both feed into the leakage-safe Semantic Projection Network, which maps visual features into semantic space without any test-time label access, before producing the final prediction. Emphasize the word "leakage-safe" — this is the deployable design, distinct from the Oracle Fusion experiment discussed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table row by row. Lead with the baseline — 93.40% accuracy is a strong, deployable result on its own. Then address Oracle Fusion directly and without hesitation: 100% accuracy is a red flag, not a win, and it is explicitly caused by label leakage in that experimental setup — call this out proactively so the panel sees you understand the pitfall. Close on the Leakage-Safe Semantic Projection at 87.82% as the honest, deployable fusion result — lower than the leaking oracle, but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Sentence-BERT similarity heatmap from Chapter 5 of the report. Explain that each cell is a cosine similarity between two action-class language embeddings. Point to the highest pairs (Drumming-PlayingGuitar at 0.52, both musical/rhythmic activities described in similar language) and the lowest (JavelinThrow-Typing at 0.15, almost no shared vocabulary). Flag the key forward-looking detail: Archery and JavelinThrow are semantically close (0.49) and this exact pair becomes the semantic projection model's biggest error on the next slide — a sign the model is reasoning correctly, not failing randomly.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three real confusion matrices from Chapter 5 of the report. The Video-Only Baseline (Fig. 5.1) shows realistic, mostly-diagonal errors — its biggest confusion is JavelinThrow predicted as Basketball (4 cases). Oracle Fusion (Fig. 5.2) shows a perfect diagonal, all 197 test videos correct — flag this immediately as label leakage, an upper-bound reference, not a real result. The Semantic Projection matrix (Fig. 5.3) shows realistic confusions guided by semantic similarity — most notably Archery confused with JavelinThrow in 7 of 25 cases, mirroring the 0.49 cosine similarity between those two classes seen on the previous slide. Reinforce the takeaway banner at the bottom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deployed Streamlit workflow: a user uploads a video, frames are extracted automatically, the action is predicted, a confidence score is attached, and an explainability report is generated. The panel on the right reproduces the exact representative example from Section 6.6 of the report: a PlayingGuitar prediction with 0.5142 similarity and Moderate confidence — deliberately lower than the 0.8776 high-confidence Drumming example elsewhere in the report, showing the system communicates uncertainty rather than faking uniform confidence. The runner-up prediction, Drumming, is exactly the pair with the highest cosine similarity (0.52) from the heatmap two slides back — the Top-K output is traceable to real semantic structure, not an opaque ranking. Replace this mock-up with a live screenshot once one is captured.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about constraints — CPU-only training, a limited dataset, and the added complexity of the semantic projection step were real challenges. Then pivot forward: name the concrete next steps — CLIP for stronger joint embeddings, Video Swin Transformer and Temporal Transformers for better temporal modeling, and real-time inference with cloud deployment for a production-ready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three pillars: what was built, what was learned, and what the honest research outcome is. Reiterate the headline number — an 87.82% accuracy leakage-safe fusion model — as the real, deployable contribution, distinct from the misleading 100% oracle figure. Close warmly, thank the panel,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jp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645920" y="4663440"/>
            <a:ext cx="4023360" cy="40233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166860" y="754380"/>
            <a:ext cx="960120" cy="96012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video_0F1B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890" y="994410"/>
            <a:ext cx="480060" cy="4800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538460" y="1303020"/>
            <a:ext cx="960120" cy="960120"/>
          </a:xfrm>
          <a:prstGeom prst="ellipse">
            <a:avLst/>
          </a:prstGeom>
          <a:solidFill>
            <a:srgbClr val="F2C14E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icons/language_0F1B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8490" y="1543050"/>
            <a:ext cx="480060" cy="4800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012680" y="1600200"/>
            <a:ext cx="685800" cy="320040"/>
          </a:xfrm>
          <a:prstGeom prst="line">
            <a:avLst/>
          </a:prstGeom>
          <a:noFill/>
          <a:ln w="19050">
            <a:solidFill>
              <a:srgbClr val="A9B6D6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FINAL YEAR MAJOR PROJECT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" y="1554480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Prompt-Guided Human Action Recognition using Vision-Language Fusion</a:t>
            </a:r>
            <a:endParaRPr lang="en-US" sz="3400" dirty="0"/>
          </a:p>
        </p:txBody>
      </p:sp>
      <p:sp>
        <p:nvSpPr>
          <p:cNvPr id="11" name="Shape 7"/>
          <p:cNvSpPr/>
          <p:nvPr/>
        </p:nvSpPr>
        <p:spPr>
          <a:xfrm>
            <a:off x="640080" y="3977640"/>
            <a:ext cx="4023360" cy="18288"/>
          </a:xfrm>
          <a:prstGeom prst="rect">
            <a:avLst/>
          </a:prstGeom>
          <a:solidFill>
            <a:srgbClr val="3A4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640080" y="4251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F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514600" y="4251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Varunbhai Kalotra   |   Roll No. 24CE048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F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514600" y="46360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Mrugendrasinh Rahevar, Assistant Professor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" y="50200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F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514600" y="502005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&amp; P U. Patel Department of Computer Engineering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0080" y="54041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F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514600" y="54041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Chandubhai S. Patel Institute of Technology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0080" y="58338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9473184" y="3621024"/>
            <a:ext cx="2130552" cy="2130552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figures/headshot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3703320"/>
            <a:ext cx="196596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Human Action Recognition matters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human actions from video </a:t>
            </a: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core computer vision problem — one that becomes far more powerful when paired with </a:t>
            </a: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language understanding</a:t>
            </a: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rather than raw class labels alone.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486400" cy="2606040"/>
          </a:xfrm>
          <a:prstGeom prst="rect">
            <a:avLst/>
          </a:prstGeom>
          <a:solidFill>
            <a:srgbClr val="F3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38496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51560" y="372160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video action classification pipeline on real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447141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51560" y="43434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visual embeddings with semantic (language) embeddings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509320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51560" y="49651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Rigorously test for label leakage and report honest, deployable results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5715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51560" y="558698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explainable, interactive demo via Streamlit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1417320"/>
            <a:ext cx="2514600" cy="2331720"/>
          </a:xfrm>
          <a:prstGeom prst="rect">
            <a:avLst/>
          </a:prstGeom>
          <a:solidFill>
            <a:srgbClr val="0F1B3C"/>
          </a:solidFill>
          <a:ln/>
          <a:effectLst>
            <a:outerShdw blurRad="63500" dist="25400" dir="5400000" algn="bl" rotWithShape="0">
              <a:srgbClr val="A9B6D6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83780" y="1673352"/>
            <a:ext cx="731520" cy="73152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0" descr="icons/shield_0F1B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0" y="1856232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83680" y="25328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629400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monitoring &amp; anomaly flagging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189720" y="1417320"/>
            <a:ext cx="2514600" cy="2331720"/>
          </a:xfrm>
          <a:prstGeom prst="rect">
            <a:avLst/>
          </a:prstGeom>
          <a:solidFill>
            <a:srgbClr val="0F1B3C"/>
          </a:solidFill>
          <a:ln/>
          <a:effectLst>
            <a:outerShdw blurRad="63500" dist="25400" dir="5400000" algn="bl" rotWithShape="0">
              <a:srgbClr val="A9B6D6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10081260" y="1673352"/>
            <a:ext cx="731520" cy="731520"/>
          </a:xfrm>
          <a:prstGeom prst="ellipse">
            <a:avLst/>
          </a:prstGeom>
          <a:solidFill>
            <a:srgbClr val="F2C14E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1" descr="icons/chartline_0F1B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4140" y="1856232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281160" y="25328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Analytics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9326880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action &amp; performance tracking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492240" y="3931920"/>
            <a:ext cx="2514600" cy="2331720"/>
          </a:xfrm>
          <a:prstGeom prst="rect">
            <a:avLst/>
          </a:prstGeom>
          <a:solidFill>
            <a:srgbClr val="0F1B3C"/>
          </a:solidFill>
          <a:ln/>
          <a:effectLst>
            <a:outerShdw blurRad="63500" dist="25400" dir="5400000" algn="bl" rotWithShape="0">
              <a:srgbClr val="A9B6D6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7383780" y="4187952"/>
            <a:ext cx="731520" cy="73152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7" name="Image 2" descr="icons/heartbeat_0F1B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660" y="4370832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583680" y="50474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629400" y="5669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activity &amp; fall monitoring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9189720" y="3931920"/>
            <a:ext cx="2514600" cy="2331720"/>
          </a:xfrm>
          <a:prstGeom prst="rect">
            <a:avLst/>
          </a:prstGeom>
          <a:solidFill>
            <a:srgbClr val="0F1B3C"/>
          </a:solidFill>
          <a:ln/>
          <a:effectLst>
            <a:outerShdw blurRad="63500" dist="25400" dir="5400000" algn="bl" rotWithShape="0">
              <a:srgbClr val="A9B6D6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10081260" y="4187952"/>
            <a:ext cx="731520" cy="731520"/>
          </a:xfrm>
          <a:prstGeom prst="ellipse">
            <a:avLst/>
          </a:prstGeom>
          <a:solidFill>
            <a:srgbClr val="F2C14E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Image 3" descr="icons/hands_0F1B3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4140" y="4370832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81160" y="50474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Human–Computer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9326880" y="5669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and activity-aware interfaces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Prompt-Guided Human Action Recognition using Vision-Language Fusion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UCF101 — 9 selected action classes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7160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UCF101 DATASET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Group-safe split ensures no video-level leakage between train/test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764438" cy="384048"/>
          </a:xfrm>
          <a:prstGeom prst="rect">
            <a:avLst/>
          </a:prstGeom>
          <a:solidFill>
            <a:srgbClr val="F3F6F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8640" y="2423160"/>
            <a:ext cx="7644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441094" y="2423160"/>
            <a:ext cx="1005840" cy="384048"/>
          </a:xfrm>
          <a:prstGeom prst="rect">
            <a:avLst/>
          </a:prstGeom>
          <a:solidFill>
            <a:srgbClr val="F3F6FB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441094" y="2423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Basketball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74950" y="2423160"/>
            <a:ext cx="683971" cy="384048"/>
          </a:xfrm>
          <a:prstGeom prst="rect">
            <a:avLst/>
          </a:prstGeom>
          <a:solidFill>
            <a:srgbClr val="F3F6F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574950" y="2423160"/>
            <a:ext cx="6839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Biking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6938" y="2423160"/>
            <a:ext cx="764438" cy="384048"/>
          </a:xfrm>
          <a:prstGeom prst="rect">
            <a:avLst/>
          </a:prstGeom>
          <a:solidFill>
            <a:srgbClr val="F3F6FB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386938" y="2423160"/>
            <a:ext cx="7644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79392" y="2423160"/>
            <a:ext cx="844906" cy="384048"/>
          </a:xfrm>
          <a:prstGeom prst="rect">
            <a:avLst/>
          </a:prstGeom>
          <a:solidFill>
            <a:srgbClr val="F3F6F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279392" y="2423160"/>
            <a:ext cx="84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Drumming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2935224"/>
            <a:ext cx="1166774" cy="384048"/>
          </a:xfrm>
          <a:prstGeom prst="rect">
            <a:avLst/>
          </a:prstGeom>
          <a:solidFill>
            <a:srgbClr val="F3F6FB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48640" y="2935224"/>
            <a:ext cx="11667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JavelinThrow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843430" y="2935224"/>
            <a:ext cx="1247242" cy="384048"/>
          </a:xfrm>
          <a:prstGeom prst="rect">
            <a:avLst/>
          </a:prstGeom>
          <a:solidFill>
            <a:srgbClr val="F3F6F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1843430" y="2935224"/>
            <a:ext cx="1247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PlayingGuitar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18688" y="2935224"/>
            <a:ext cx="1166774" cy="384048"/>
          </a:xfrm>
          <a:prstGeom prst="rect">
            <a:avLst/>
          </a:prstGeom>
          <a:solidFill>
            <a:srgbClr val="F3F6FB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3218688" y="2935224"/>
            <a:ext cx="11667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RopeClimbing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13478" y="2935224"/>
            <a:ext cx="683971" cy="384048"/>
          </a:xfrm>
          <a:prstGeom prst="rect">
            <a:avLst/>
          </a:prstGeom>
          <a:solidFill>
            <a:srgbClr val="F3F6F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513478" y="2935224"/>
            <a:ext cx="6839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955280" y="1417320"/>
            <a:ext cx="3703320" cy="731520"/>
          </a:xfrm>
          <a:prstGeom prst="rect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8138160" y="1508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 (GROUP-SAFE)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138160" y="18105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867</a:t>
            </a:r>
            <a:r>
              <a:rPr lang="en-US" sz="11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 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r>
              <a:rPr lang="en-US" sz="11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 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r>
              <a:rPr lang="en-US" sz="11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   </a:t>
            </a:r>
            <a:r>
              <a:rPr lang="en-US" sz="11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1,261</a:t>
            </a:r>
            <a:r>
              <a:rPr lang="en-US" sz="11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 videos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586216" y="2276856"/>
            <a:ext cx="2441448" cy="2074109"/>
          </a:xfrm>
          <a:prstGeom prst="rect">
            <a:avLst/>
          </a:prstGeom>
          <a:solidFill>
            <a:srgbClr val="FFFFFF"/>
          </a:solidFill>
          <a:ln w="12700">
            <a:solidFill>
              <a:srgbClr val="C7D1E8"/>
            </a:solidFill>
            <a:prstDash val="solid"/>
          </a:ln>
          <a:effectLst>
            <a:outerShdw blurRad="76200" dist="25400" dir="5400000" algn="bl" rotWithShape="0">
              <a:srgbClr val="A9B6D6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0" name="Image 1" descr="figures/drumming_contact_she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331720"/>
            <a:ext cx="2331720" cy="1964381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955280" y="4405829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16 sampled frames — Drumming clip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70510" y="4903337"/>
            <a:ext cx="868680" cy="868680"/>
          </a:xfrm>
          <a:prstGeom prst="ellipse">
            <a:avLst/>
          </a:prstGeom>
          <a:solidFill>
            <a:srgbClr val="0F1B3C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4" name="Text 29"/>
          <p:cNvSpPr/>
          <p:nvPr/>
        </p:nvSpPr>
        <p:spPr>
          <a:xfrm>
            <a:off x="-190500" y="5961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1231392" y="5342648"/>
            <a:ext cx="1133856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1"/>
          <p:cNvSpPr/>
          <p:nvPr/>
        </p:nvSpPr>
        <p:spPr>
          <a:xfrm>
            <a:off x="2438400" y="4908308"/>
            <a:ext cx="868680" cy="868680"/>
          </a:xfrm>
          <a:prstGeom prst="ellipse">
            <a:avLst/>
          </a:prstGeom>
          <a:solidFill>
            <a:srgbClr val="0F1B3C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2"/>
          <p:cNvSpPr/>
          <p:nvPr/>
        </p:nvSpPr>
        <p:spPr>
          <a:xfrm>
            <a:off x="1958340" y="59095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3380232" y="5342648"/>
            <a:ext cx="1133856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4"/>
          <p:cNvSpPr/>
          <p:nvPr/>
        </p:nvSpPr>
        <p:spPr>
          <a:xfrm>
            <a:off x="4587240" y="4908308"/>
            <a:ext cx="868680" cy="868680"/>
          </a:xfrm>
          <a:prstGeom prst="ellipse">
            <a:avLst/>
          </a:prstGeom>
          <a:solidFill>
            <a:srgbClr val="0F1B3C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35"/>
          <p:cNvSpPr/>
          <p:nvPr/>
        </p:nvSpPr>
        <p:spPr>
          <a:xfrm>
            <a:off x="4107180" y="59095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5529072" y="5342648"/>
            <a:ext cx="1133856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37"/>
          <p:cNvSpPr/>
          <p:nvPr/>
        </p:nvSpPr>
        <p:spPr>
          <a:xfrm>
            <a:off x="6736080" y="4908308"/>
            <a:ext cx="868680" cy="868680"/>
          </a:xfrm>
          <a:prstGeom prst="ellipse">
            <a:avLst/>
          </a:prstGeom>
          <a:solidFill>
            <a:srgbClr val="0F1B3C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38"/>
          <p:cNvSpPr/>
          <p:nvPr/>
        </p:nvSpPr>
        <p:spPr>
          <a:xfrm>
            <a:off x="6256020" y="59095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47" name="Shape 39"/>
          <p:cNvSpPr/>
          <p:nvPr/>
        </p:nvSpPr>
        <p:spPr>
          <a:xfrm>
            <a:off x="7677912" y="5342648"/>
            <a:ext cx="1133856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0"/>
          <p:cNvSpPr/>
          <p:nvPr/>
        </p:nvSpPr>
        <p:spPr>
          <a:xfrm>
            <a:off x="8884920" y="4884557"/>
            <a:ext cx="868680" cy="868680"/>
          </a:xfrm>
          <a:prstGeom prst="ellipse">
            <a:avLst/>
          </a:prstGeom>
          <a:solidFill>
            <a:srgbClr val="F2C14E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49" name="Image 6" descr="icons/tags_0F1B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090" y="5125478"/>
            <a:ext cx="434340" cy="43434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8384835" y="58958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51" name="Text 42"/>
          <p:cNvSpPr/>
          <p:nvPr/>
        </p:nvSpPr>
        <p:spPr>
          <a:xfrm>
            <a:off x="449580" y="444613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52" name="Text 43"/>
          <p:cNvSpPr/>
          <p:nvPr/>
        </p:nvSpPr>
        <p:spPr>
          <a:xfrm>
            <a:off x="358445" y="64079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Prompt-Guided Human Action Recognition using Vision-Language Fusion</a:t>
            </a:r>
            <a:endParaRPr lang="en-US" sz="900" dirty="0"/>
          </a:p>
        </p:txBody>
      </p:sp>
      <p:sp>
        <p:nvSpPr>
          <p:cNvPr id="53" name="Text 4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5" name="Shape 2">
            <a:extLst>
              <a:ext uri="{FF2B5EF4-FFF2-40B4-BE49-F238E27FC236}">
                <a16:creationId xmlns:a16="http://schemas.microsoft.com/office/drawing/2014/main" id="{5E0466F9-1F6A-53EA-3B0D-7C15FF9AFDC5}"/>
              </a:ext>
            </a:extLst>
          </p:cNvPr>
          <p:cNvSpPr/>
          <p:nvPr/>
        </p:nvSpPr>
        <p:spPr>
          <a:xfrm>
            <a:off x="672998" y="1570483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5" name="Image 0" descr="icons/database_00A8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" y="1726196"/>
            <a:ext cx="320040" cy="320040"/>
          </a:xfrm>
          <a:prstGeom prst="rect">
            <a:avLst/>
          </a:prstGeom>
        </p:spPr>
      </p:pic>
      <p:sp>
        <p:nvSpPr>
          <p:cNvPr id="57" name="Shape 5">
            <a:extLst>
              <a:ext uri="{FF2B5EF4-FFF2-40B4-BE49-F238E27FC236}">
                <a16:creationId xmlns:a16="http://schemas.microsoft.com/office/drawing/2014/main" id="{31D30FE6-940E-A7E1-8F5D-D392EDC1DC89}"/>
              </a:ext>
            </a:extLst>
          </p:cNvPr>
          <p:cNvSpPr/>
          <p:nvPr/>
        </p:nvSpPr>
        <p:spPr>
          <a:xfrm>
            <a:off x="4587240" y="4908310"/>
            <a:ext cx="868680" cy="868678"/>
          </a:xfrm>
          <a:prstGeom prst="ellipse">
            <a:avLst/>
          </a:prstGeom>
          <a:solidFill>
            <a:srgbClr val="F2C14E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1" name="Image 4" descr="icons/branch_00A89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3" y="5101727"/>
            <a:ext cx="434340" cy="434340"/>
          </a:xfrm>
          <a:prstGeom prst="rect">
            <a:avLst/>
          </a:prstGeom>
        </p:spPr>
      </p:pic>
      <p:sp>
        <p:nvSpPr>
          <p:cNvPr id="59" name="Shape 5">
            <a:extLst>
              <a:ext uri="{FF2B5EF4-FFF2-40B4-BE49-F238E27FC236}">
                <a16:creationId xmlns:a16="http://schemas.microsoft.com/office/drawing/2014/main" id="{9487159F-FAA4-DCB2-DA3D-EAED4E753D56}"/>
              </a:ext>
            </a:extLst>
          </p:cNvPr>
          <p:cNvSpPr/>
          <p:nvPr/>
        </p:nvSpPr>
        <p:spPr>
          <a:xfrm>
            <a:off x="249630" y="4884557"/>
            <a:ext cx="908609" cy="896599"/>
          </a:xfrm>
          <a:prstGeom prst="ellipse">
            <a:avLst/>
          </a:prstGeom>
          <a:solidFill>
            <a:srgbClr val="F2C14E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Image 2" descr="icons/video_00A89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764" y="5122526"/>
            <a:ext cx="434340" cy="434340"/>
          </a:xfrm>
          <a:prstGeom prst="rect">
            <a:avLst/>
          </a:prstGeom>
        </p:spPr>
      </p:pic>
      <p:sp>
        <p:nvSpPr>
          <p:cNvPr id="61" name="Shape 2">
            <a:extLst>
              <a:ext uri="{FF2B5EF4-FFF2-40B4-BE49-F238E27FC236}">
                <a16:creationId xmlns:a16="http://schemas.microsoft.com/office/drawing/2014/main" id="{35AD7170-0BF3-9488-93E9-4C9320049CD1}"/>
              </a:ext>
            </a:extLst>
          </p:cNvPr>
          <p:cNvSpPr/>
          <p:nvPr/>
        </p:nvSpPr>
        <p:spPr>
          <a:xfrm>
            <a:off x="2398471" y="4903336"/>
            <a:ext cx="908609" cy="868681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37" name="Image 3" descr="icons/cut_00A89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6332" y="5101727"/>
            <a:ext cx="434340" cy="434340"/>
          </a:xfrm>
          <a:prstGeom prst="rect">
            <a:avLst/>
          </a:prstGeom>
        </p:spPr>
      </p:pic>
      <p:sp>
        <p:nvSpPr>
          <p:cNvPr id="63" name="Shape 2">
            <a:extLst>
              <a:ext uri="{FF2B5EF4-FFF2-40B4-BE49-F238E27FC236}">
                <a16:creationId xmlns:a16="http://schemas.microsoft.com/office/drawing/2014/main" id="{D98DC16C-E16E-E618-2FFB-94A952505A16}"/>
              </a:ext>
            </a:extLst>
          </p:cNvPr>
          <p:cNvSpPr/>
          <p:nvPr/>
        </p:nvSpPr>
        <p:spPr>
          <a:xfrm>
            <a:off x="6696151" y="4903337"/>
            <a:ext cx="908609" cy="868681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45" name="Image 5" descr="icons/chip_00A89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0" y="5115686"/>
            <a:ext cx="43434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Dual-branch vision-language fusion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822960" cy="82296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video_0F1B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5316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691640" y="1737360"/>
            <a:ext cx="100584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697480" y="1325880"/>
            <a:ext cx="822960" cy="82296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chip_0F1B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220" y="15316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31720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Features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68680" y="2880360"/>
            <a:ext cx="822960" cy="822960"/>
          </a:xfrm>
          <a:prstGeom prst="ellipse">
            <a:avLst/>
          </a:prstGeom>
          <a:solidFill>
            <a:srgbClr val="F2C14E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2" descr="icons/language_0F1B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30861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2920" y="3822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1691640" y="3291840"/>
            <a:ext cx="100584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2697480" y="2880360"/>
            <a:ext cx="822960" cy="822960"/>
          </a:xfrm>
          <a:prstGeom prst="ellipse">
            <a:avLst/>
          </a:prstGeom>
          <a:solidFill>
            <a:srgbClr val="F2C14E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icons/bookopen_0F1B3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3220" y="308610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331720" y="3822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Space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3703320" y="30861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Projection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097780" y="2514600"/>
            <a:ext cx="109728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7"/>
          <p:cNvSpPr/>
          <p:nvPr/>
        </p:nvSpPr>
        <p:spPr>
          <a:xfrm>
            <a:off x="6195060" y="1988820"/>
            <a:ext cx="1051560" cy="105156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5" descr="icons/check_0F1B3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7950" y="2251710"/>
            <a:ext cx="525780" cy="5257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806440" y="3172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8092440" y="1554480"/>
            <a:ext cx="3566160" cy="3108960"/>
          </a:xfrm>
          <a:prstGeom prst="rect">
            <a:avLst/>
          </a:prstGeom>
          <a:solidFill>
            <a:srgbClr val="F3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0"/>
          <p:cNvSpPr/>
          <p:nvPr/>
        </p:nvSpPr>
        <p:spPr>
          <a:xfrm>
            <a:off x="832104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FUSION WORKS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832104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branch: ResNet18 extracts frame-level features, pooled into a video embedding.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8321040" y="29443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branch: Sentence-BERT encodes action-class prompts into a semantic embedding space.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8321040" y="3785616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projection network maps visual features into semantic space in a leakage-safe manner (no test-time label access), enabling prediction by nearest semantic match.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Prompt-Guided Human Action Recognition using Vision-Language Fusion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Shape 40">
            <a:extLst>
              <a:ext uri="{FF2B5EF4-FFF2-40B4-BE49-F238E27FC236}">
                <a16:creationId xmlns:a16="http://schemas.microsoft.com/office/drawing/2014/main" id="{2737D4FF-265D-8034-C9DF-0C43A66C2380}"/>
              </a:ext>
            </a:extLst>
          </p:cNvPr>
          <p:cNvSpPr/>
          <p:nvPr/>
        </p:nvSpPr>
        <p:spPr>
          <a:xfrm>
            <a:off x="4086092" y="1993126"/>
            <a:ext cx="1051560" cy="1047254"/>
          </a:xfrm>
          <a:prstGeom prst="ellipse">
            <a:avLst/>
          </a:prstGeom>
          <a:solidFill>
            <a:srgbClr val="F2C14E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21" name="Image 4" descr="icons/bullseye_F2C14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6260" y="2263140"/>
            <a:ext cx="525780" cy="525780"/>
          </a:xfrm>
          <a:prstGeom prst="rect">
            <a:avLst/>
          </a:prstGeom>
        </p:spPr>
      </p:pic>
      <p:sp>
        <p:nvSpPr>
          <p:cNvPr id="37" name="Shape 39">
            <a:extLst>
              <a:ext uri="{FF2B5EF4-FFF2-40B4-BE49-F238E27FC236}">
                <a16:creationId xmlns:a16="http://schemas.microsoft.com/office/drawing/2014/main" id="{EC5F742F-42BF-0524-D33F-2889CFD2C1F1}"/>
              </a:ext>
            </a:extLst>
          </p:cNvPr>
          <p:cNvSpPr/>
          <p:nvPr/>
        </p:nvSpPr>
        <p:spPr>
          <a:xfrm flipV="1">
            <a:off x="3520440" y="2816349"/>
            <a:ext cx="662940" cy="443486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75D7ED8B-809C-A1A4-43CB-25AC47F49E73}"/>
              </a:ext>
            </a:extLst>
          </p:cNvPr>
          <p:cNvSpPr/>
          <p:nvPr/>
        </p:nvSpPr>
        <p:spPr>
          <a:xfrm>
            <a:off x="3520440" y="1737359"/>
            <a:ext cx="662940" cy="420623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across three experimental configurations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223760" cy="22860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Video-Only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92.77%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Fusion*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243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Leakage-Safe Semantic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404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C2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*Oracle Fusion caused by label leakage — not a valid deployable model. (0 of 197 test videos misclassified — a perfect, but meaningless, diagonal.)</a:t>
            </a:r>
            <a:endParaRPr lang="en-US" sz="950" dirty="0"/>
          </a:p>
        </p:txBody>
      </p:sp>
      <p:sp>
        <p:nvSpPr>
          <p:cNvPr id="4" name="Shape 3"/>
          <p:cNvSpPr/>
          <p:nvPr/>
        </p:nvSpPr>
        <p:spPr>
          <a:xfrm>
            <a:off x="8092440" y="1463040"/>
            <a:ext cx="3566160" cy="4663440"/>
          </a:xfrm>
          <a:prstGeom prst="rect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366760" y="1673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366760" y="215798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613648" y="201168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Video-Only Baseline: strong, fully deployable at 93.40% accuracy — 197 held-out test videos, 4 of 9 classes at a perfect F1 (Bowling, Drumming, PlayingGuitar, Typing).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8366760" y="3456432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613648" y="3310128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hits 100% only because the ground-truth label leaked in via the text embedding — confirmed by Fig. 5.2's perfect diagonal, not a real result.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8366760" y="4754880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613648" y="4608576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Semantic Projection: 87.82% honestly, 5.58 pts below the baseline — its errors (e.g. Archery ↔ JavelinThrow) track genuine semantic similarity, not random failure.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Prompt-Guided Human Action Recognition using Vision-Language Fusion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semantic similarity heatmap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537960" cy="4572000"/>
          </a:xfrm>
          <a:prstGeom prst="rect">
            <a:avLst/>
          </a:prstGeom>
          <a:solidFill>
            <a:srgbClr val="F3F6FB"/>
          </a:solidFill>
          <a:ln w="12700">
            <a:solidFill>
              <a:srgbClr val="C7D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figures/fig_5_4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691640"/>
            <a:ext cx="608076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596128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5.4 — Sentence-BERT Action-Class Semantic Similarity Heatmap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315200" y="1508760"/>
            <a:ext cx="4343400" cy="4572000"/>
          </a:xfrm>
          <a:prstGeom prst="rect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58952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89520" y="21488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heatmap plots pairwise cosine similarity between Sentence-BERT embeddings of each action-class prompt.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895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similarity (most alike)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9520" y="33375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Drumming ↔ PlayingGuitar (0.52)   ·   Basketball ↔ Bowling (0.50)   ·   Archery ↔ JavelinThrow (0.49)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58952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similarity (least alike)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89520" y="42976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JavelinThrow ↔ Typing (0.15)   ·   Bowling ↔ Typing (0.17)   ·   Archery ↔ Typing (0.21)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589520" y="498348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Notably, Archery ↔ JavelinThrow — the pair most confused by the visual baseline — is also among the most semantically similar. This is exactly the confusion the leakage-safe projection model reproduces later.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Prompt-Guided Human Action Recognition using Vision-Language Fusion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configurations, three very different stories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383280" cy="3200400"/>
          </a:xfrm>
          <a:prstGeom prst="rect">
            <a:avLst/>
          </a:prstGeom>
          <a:solidFill>
            <a:srgbClr val="F3F6FB"/>
          </a:solidFill>
          <a:ln w="222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017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figures/fig_5_1_baseline_c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4672" y="1673352"/>
            <a:ext cx="2871216" cy="2093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Video-Only Baseline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4663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49103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errors: JavelinThrow→Basketball (4), Archery→JavelinThrow (3).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4251960" y="1417320"/>
            <a:ext cx="3383280" cy="3200400"/>
          </a:xfrm>
          <a:prstGeom prst="rect">
            <a:avLst/>
          </a:prstGeom>
          <a:solidFill>
            <a:srgbClr val="F3F6FB"/>
          </a:solidFill>
          <a:ln w="22225">
            <a:solidFill>
              <a:srgbClr val="C243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434840" y="1600200"/>
            <a:ext cx="3017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figures/fig_5_2_oracle_c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07992" y="1673352"/>
            <a:ext cx="2871216" cy="209397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0" y="1527048"/>
            <a:ext cx="1051560" cy="292608"/>
          </a:xfrm>
          <a:prstGeom prst="rect">
            <a:avLst/>
          </a:prstGeom>
          <a:solidFill>
            <a:srgbClr val="C243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6400800" y="1527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38912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389120" y="4663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89120" y="49103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diagonal — all 197/197 correct — caused by label leakage.</a:t>
            </a:r>
            <a:endParaRPr lang="en-US" sz="970" dirty="0"/>
          </a:p>
        </p:txBody>
      </p:sp>
      <p:sp>
        <p:nvSpPr>
          <p:cNvPr id="18" name="Shape 14"/>
          <p:cNvSpPr/>
          <p:nvPr/>
        </p:nvSpPr>
        <p:spPr>
          <a:xfrm>
            <a:off x="7955280" y="1417320"/>
            <a:ext cx="3383280" cy="3200400"/>
          </a:xfrm>
          <a:prstGeom prst="rect">
            <a:avLst/>
          </a:prstGeom>
          <a:solidFill>
            <a:srgbClr val="F3F6FB"/>
          </a:solidFill>
          <a:ln w="222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138160" y="1600200"/>
            <a:ext cx="3017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figures/fig_5_3_semantic_cm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11312" y="1673352"/>
            <a:ext cx="2871216" cy="209397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104120" y="1527048"/>
            <a:ext cx="1051560" cy="2926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10104120" y="1527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09244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Projection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092440" y="4663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5.3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092440" y="49103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Archery↔JavelinThrow confused 7/25 — tracks semantic similarity.</a:t>
            </a:r>
            <a:endParaRPr lang="en-US" sz="970" dirty="0"/>
          </a:p>
        </p:txBody>
      </p:sp>
      <p:sp>
        <p:nvSpPr>
          <p:cNvPr id="26" name="Shape 21"/>
          <p:cNvSpPr/>
          <p:nvPr/>
        </p:nvSpPr>
        <p:spPr>
          <a:xfrm>
            <a:off x="548640" y="5989320"/>
            <a:ext cx="10241280" cy="502920"/>
          </a:xfrm>
          <a:prstGeom prst="rect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777240" y="59893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= label leakage.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Projection = leakage-safe, real, deployable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demo — end-to-end inference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upload_0F1B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5316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Video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234440" y="2011680"/>
            <a:ext cx="0" cy="201168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915995" y="2212848"/>
            <a:ext cx="640080" cy="640080"/>
          </a:xfrm>
          <a:prstGeom prst="ellipse">
            <a:avLst/>
          </a:prstGeom>
          <a:solidFill>
            <a:srgbClr val="F2C14E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cut_0F1B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237286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350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Frames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234440" y="2852928"/>
            <a:ext cx="0" cy="201168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914400" y="3054096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icons/bullseye_0F1B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3214116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31912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Action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1234440" y="3694176"/>
            <a:ext cx="0" cy="201168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914400" y="3895344"/>
            <a:ext cx="640080" cy="640080"/>
          </a:xfrm>
          <a:prstGeom prst="ellipse">
            <a:avLst/>
          </a:prstGeom>
          <a:solidFill>
            <a:srgbClr val="F2C14E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3" descr="icons/chartline_0F1B3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420" y="4055364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37360" y="40325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1234440" y="4535424"/>
            <a:ext cx="0" cy="201168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914400" y="4736592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4" descr="icons/bookopen_0F1B3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420" y="4896612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737360" y="4873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Report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846320" y="1508760"/>
            <a:ext cx="6812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1E8"/>
            </a:solidFill>
            <a:prstDash val="solid"/>
          </a:ln>
          <a:effectLst>
            <a:outerShdw blurRad="101600" dist="25400" dir="5400000" algn="bl" rotWithShape="0">
              <a:srgbClr val="A9B6D6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7"/>
          <p:cNvSpPr/>
          <p:nvPr/>
        </p:nvSpPr>
        <p:spPr>
          <a:xfrm>
            <a:off x="4846320" y="1508760"/>
            <a:ext cx="6812280" cy="502920"/>
          </a:xfrm>
          <a:prstGeom prst="rect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8"/>
          <p:cNvSpPr/>
          <p:nvPr/>
        </p:nvSpPr>
        <p:spPr>
          <a:xfrm>
            <a:off x="5074920" y="1508760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Prompt-Guided Human Action Recognition — Streamlit App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120640" y="2194560"/>
            <a:ext cx="6263640" cy="502920"/>
          </a:xfrm>
          <a:prstGeom prst="rect">
            <a:avLst/>
          </a:prstGeom>
          <a:solidFill>
            <a:srgbClr val="F3F6FB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0"/>
          <p:cNvSpPr/>
          <p:nvPr/>
        </p:nvSpPr>
        <p:spPr>
          <a:xfrm>
            <a:off x="5303520" y="2194560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Upload Video     [ Choose File ]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120640" y="288036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EXAMPLE OUTPUT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120640" y="3200400"/>
            <a:ext cx="6263640" cy="2331720"/>
          </a:xfrm>
          <a:prstGeom prst="rect">
            <a:avLst/>
          </a:prstGeom>
          <a:solidFill>
            <a:srgbClr val="F3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3"/>
          <p:cNvSpPr/>
          <p:nvPr/>
        </p:nvSpPr>
        <p:spPr>
          <a:xfrm>
            <a:off x="5349240" y="3355848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 PlayingGuitar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5349240" y="3721608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Similarity: </a:t>
            </a: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0.5142</a:t>
            </a: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Confidence: </a:t>
            </a:r>
            <a:r>
              <a:rPr lang="en-US" sz="11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5349240" y="40690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description: "A person holds a guitar and strums the strings."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349240" y="4453128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Predictions:   1. PlayingGuitar    2. Drumming    3. RopeClimbing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349240" y="4782312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the projected semantic representation was most similar to the PlayingGuitar class embedding. Reliability note: these are cosine similarities, not calibrated probabilities.</a:t>
            </a:r>
            <a:endParaRPr lang="en-US" sz="980" dirty="0"/>
          </a:p>
        </p:txBody>
      </p:sp>
      <p:sp>
        <p:nvSpPr>
          <p:cNvPr id="35" name="Text 28"/>
          <p:cNvSpPr/>
          <p:nvPr/>
        </p:nvSpPr>
        <p:spPr>
          <a:xfrm>
            <a:off x="5120640" y="585216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Mock-up of report Section 6.6 — replace with a live screenshot when available.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Prompt-Guided Human Action Recognition using Vision-Language Fusion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solidFill>
            <a:srgbClr val="F3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37260" y="1577340"/>
            <a:ext cx="594360" cy="594360"/>
          </a:xfrm>
          <a:prstGeom prst="ellipse">
            <a:avLst/>
          </a:prstGeom>
          <a:solidFill>
            <a:srgbClr val="F2C14E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warning_0F1B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17259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68680" y="2523744"/>
            <a:ext cx="109728" cy="109728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43000" y="23774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training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3182112"/>
            <a:ext cx="109728" cy="109728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143000" y="30358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dataset size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80" y="3840480"/>
            <a:ext cx="109728" cy="109728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143000" y="36941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projection complexity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35040" y="1371600"/>
            <a:ext cx="5623560" cy="4846320"/>
          </a:xfrm>
          <a:prstGeom prst="rect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423660" y="1577340"/>
            <a:ext cx="594360" cy="59436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1" descr="icons/bulb_0F1B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1725930"/>
            <a:ext cx="297180" cy="2971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1600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355080" y="248716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662940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355080" y="303580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62940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Swin Transformer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355080" y="358444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6629400" y="3429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Transformers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355080" y="413308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6629400" y="3977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355080" y="468172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6629400" y="4526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Prompt-Guided Human Action Recognition using Vision-Language Fusion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1531620"/>
            <a:ext cx="685800" cy="685800"/>
          </a:xfrm>
          <a:prstGeom prst="ellipse">
            <a:avLst/>
          </a:prstGeom>
          <a:solidFill>
            <a:srgbClr val="F2C14E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icons/trophy_0F1B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70307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774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Contributions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308152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96112" y="29443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vision-language action recognition pipeline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96112" y="369417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Rigorous, leakage-aware evaluation methodology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5800" y="458114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96112" y="444398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deployed Streamlit inference demo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457700" y="1531620"/>
            <a:ext cx="685800" cy="685800"/>
          </a:xfrm>
          <a:prstGeom prst="ellipse">
            <a:avLst/>
          </a:prstGeom>
          <a:solidFill>
            <a:srgbClr val="F2C14E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1" descr="icons/brain_0F1B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1703070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97680" y="23774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343400" y="308152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4553712" y="29443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scores demand scrutiny, not celebration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343400" y="383133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4553712" y="369417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embeddings add real value beyond pixels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343400" y="458114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4553712" y="444398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constraints shape architecture choices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115300" y="1531620"/>
            <a:ext cx="685800" cy="685800"/>
          </a:xfrm>
          <a:prstGeom prst="ellipse">
            <a:avLst/>
          </a:prstGeom>
          <a:solidFill>
            <a:srgbClr val="F2C14E"/>
          </a:solidFill>
          <a:ln/>
          <a:effectLst>
            <a:outerShdw blurRad="76200" dist="25400" dir="5400000" algn="bl" rotWithShape="0">
              <a:srgbClr val="10162B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2" descr="icons/flask_0F1B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0" y="1703070"/>
            <a:ext cx="342900" cy="3429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955280" y="23774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Outcome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8001000" y="308152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8211312" y="29443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realistic, leakage-safe fusion model at 87.82% accuracy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001000" y="383133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/>
          <p:nvPr/>
        </p:nvSpPr>
        <p:spPr>
          <a:xfrm>
            <a:off x="8211312" y="369417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honest baseline-vs-fusion comparison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001000" y="458114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6"/>
          <p:cNvSpPr/>
          <p:nvPr/>
        </p:nvSpPr>
        <p:spPr>
          <a:xfrm>
            <a:off x="8211312" y="444398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future temporal &amp; CLIP-based extensions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40080" y="5623560"/>
            <a:ext cx="10881360" cy="18288"/>
          </a:xfrm>
          <a:prstGeom prst="rect">
            <a:avLst/>
          </a:prstGeom>
          <a:solidFill>
            <a:srgbClr val="3A4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/>
          <p:nvPr/>
        </p:nvSpPr>
        <p:spPr>
          <a:xfrm>
            <a:off x="64008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34" name="Text 29"/>
          <p:cNvSpPr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1835</Words>
  <Application>Microsoft Office PowerPoint</Application>
  <PresentationFormat>Widescreen</PresentationFormat>
  <Paragraphs>202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Varun Kalotra</cp:lastModifiedBy>
  <cp:revision>2</cp:revision>
  <dcterms:created xsi:type="dcterms:W3CDTF">2026-07-29T20:31:01Z</dcterms:created>
  <dcterms:modified xsi:type="dcterms:W3CDTF">2026-08-20T05:13:25Z</dcterms:modified>
</cp:coreProperties>
</file>